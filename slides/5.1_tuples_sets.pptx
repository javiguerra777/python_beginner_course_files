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 Mon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italic.fntdata"/><Relationship Id="rId14" Type="http://schemas.openxmlformats.org/officeDocument/2006/relationships/font" Target="fonts/RobotoMono-bold.fntdata"/><Relationship Id="rId16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811934e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811934e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811934e7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811934e7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811934e7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811934e7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811934e7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811934e7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811934e7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811934e7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811934e7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811934e7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Tuples and Sets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Tuples — The Immutable Collection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What is a Tuple?</a:t>
            </a:r>
            <a:r>
              <a:rPr lang="en" sz="1100">
                <a:solidFill>
                  <a:schemeClr val="dk1"/>
                </a:solidFill>
              </a:rPr>
              <a:t> A collection that is </a:t>
            </a:r>
            <a:r>
              <a:rPr b="1" lang="en" sz="1100">
                <a:solidFill>
                  <a:schemeClr val="dk1"/>
                </a:solidFill>
              </a:rPr>
              <a:t>ordered</a:t>
            </a:r>
            <a:r>
              <a:rPr lang="en" sz="1100">
                <a:solidFill>
                  <a:schemeClr val="dk1"/>
                </a:solidFill>
              </a:rPr>
              <a:t> but </a:t>
            </a:r>
            <a:r>
              <a:rPr b="1" lang="en" sz="1100">
                <a:solidFill>
                  <a:schemeClr val="dk1"/>
                </a:solidFill>
              </a:rPr>
              <a:t>unchangeable (immutable)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Syntax:</a:t>
            </a:r>
            <a:r>
              <a:rPr lang="en" sz="1100">
                <a:solidFill>
                  <a:schemeClr val="dk1"/>
                </a:solidFill>
              </a:rPr>
              <a:t> Defined using parentheses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When to use them: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Data Integrity:</a:t>
            </a:r>
            <a:r>
              <a:rPr lang="en" sz="1100">
                <a:solidFill>
                  <a:schemeClr val="dk1"/>
                </a:solidFill>
              </a:rPr>
              <a:t> Use a tuple for data that </a:t>
            </a:r>
            <a:r>
              <a:rPr i="1" lang="en" sz="1100">
                <a:solidFill>
                  <a:schemeClr val="dk1"/>
                </a:solidFill>
              </a:rPr>
              <a:t>should not</a:t>
            </a:r>
            <a:r>
              <a:rPr lang="en" sz="1100">
                <a:solidFill>
                  <a:schemeClr val="dk1"/>
                </a:solidFill>
              </a:rPr>
              <a:t> change (e.g., GPS coordinates, RGB color codes, or a birthday).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Performance:</a:t>
            </a:r>
            <a:r>
              <a:rPr lang="en" sz="1100">
                <a:solidFill>
                  <a:schemeClr val="dk1"/>
                </a:solidFill>
              </a:rPr>
              <a:t> Tuples are slightly faster than lists because their size is fixed in memory.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Dictionary Keys:</a:t>
            </a:r>
            <a:r>
              <a:rPr lang="en" sz="1100">
                <a:solidFill>
                  <a:schemeClr val="dk1"/>
                </a:solidFill>
              </a:rPr>
              <a:t> Because they are immutable, tuples can be used as keys in a dictionary (lists cannot).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 title="Screenshot 2026-04-20 0917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403" y="2937675"/>
            <a:ext cx="5226900" cy="91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Sets — The Unique Collection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41769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What is a Set?</a:t>
            </a:r>
            <a:r>
              <a:rPr lang="en" sz="1100">
                <a:solidFill>
                  <a:schemeClr val="dk1"/>
                </a:solidFill>
              </a:rPr>
              <a:t> A collection that is </a:t>
            </a:r>
            <a:r>
              <a:rPr b="1" lang="en" sz="1100">
                <a:solidFill>
                  <a:schemeClr val="dk1"/>
                </a:solidFill>
              </a:rPr>
              <a:t>unordered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b="1" lang="en" sz="1100">
                <a:solidFill>
                  <a:schemeClr val="dk1"/>
                </a:solidFill>
              </a:rPr>
              <a:t>unindexed</a:t>
            </a:r>
            <a:r>
              <a:rPr lang="en" sz="1100">
                <a:solidFill>
                  <a:schemeClr val="dk1"/>
                </a:solidFill>
              </a:rPr>
              <a:t>, and contains </a:t>
            </a:r>
            <a:r>
              <a:rPr b="1" lang="en" sz="1100">
                <a:solidFill>
                  <a:schemeClr val="dk1"/>
                </a:solidFill>
              </a:rPr>
              <a:t>no duplicate elements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Syntax:</a:t>
            </a:r>
            <a:r>
              <a:rPr lang="en" sz="1100">
                <a:solidFill>
                  <a:schemeClr val="dk1"/>
                </a:solidFill>
              </a:rPr>
              <a:t> Defined using curly braces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{}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When to use them: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Removing Duplicates:</a:t>
            </a:r>
            <a:r>
              <a:rPr lang="en" sz="1100">
                <a:solidFill>
                  <a:schemeClr val="dk1"/>
                </a:solidFill>
              </a:rPr>
              <a:t> Easily turn a list with repeats into a collection of unique items.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Membership Testing:</a:t>
            </a:r>
            <a:r>
              <a:rPr lang="en" sz="1100">
                <a:solidFill>
                  <a:schemeClr val="dk1"/>
                </a:solidFill>
              </a:rPr>
              <a:t> Checking if an item exists in a set is much faster than in a list.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Mathematical Operations:</a:t>
            </a:r>
            <a:r>
              <a:rPr lang="en" sz="1100">
                <a:solidFill>
                  <a:schemeClr val="dk1"/>
                </a:solidFill>
              </a:rPr>
              <a:t> Perform unions, intersections, and differences between groups of data.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 title="Screenshot 2026-04-20 0920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7750" y="1152475"/>
            <a:ext cx="4493550" cy="105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Screenshot 2026-04-20 09215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7750" y="2290600"/>
            <a:ext cx="4350599" cy="2367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Accessing Items (The Comparison)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4768200" cy="39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Accessing data works differently for Tuples and Sets because one is ordered and the other is not.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Accessing Tuple Items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Method:</a:t>
            </a:r>
            <a:r>
              <a:rPr lang="en" sz="1100">
                <a:solidFill>
                  <a:schemeClr val="dk1"/>
                </a:solidFill>
              </a:rPr>
              <a:t> Since Tuples are </a:t>
            </a:r>
            <a:r>
              <a:rPr b="1" lang="en" sz="1100">
                <a:solidFill>
                  <a:schemeClr val="dk1"/>
                </a:solidFill>
              </a:rPr>
              <a:t>ordered</a:t>
            </a:r>
            <a:r>
              <a:rPr lang="en" sz="1100">
                <a:solidFill>
                  <a:schemeClr val="dk1"/>
                </a:solidFill>
              </a:rPr>
              <a:t>, you access items exactly like lists using </a:t>
            </a:r>
            <a:r>
              <a:rPr b="1" lang="en" sz="1100">
                <a:solidFill>
                  <a:schemeClr val="dk1"/>
                </a:solidFill>
              </a:rPr>
              <a:t>indexing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b="1" lang="en" sz="1100">
                <a:solidFill>
                  <a:schemeClr val="dk1"/>
                </a:solidFill>
              </a:rPr>
              <a:t>slicing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Immutability Rule:</a:t>
            </a:r>
            <a:r>
              <a:rPr lang="en" sz="1100">
                <a:solidFill>
                  <a:schemeClr val="dk1"/>
                </a:solidFill>
              </a:rPr>
              <a:t> You can </a:t>
            </a:r>
            <a:r>
              <a:rPr i="1" lang="en" sz="1100">
                <a:solidFill>
                  <a:schemeClr val="dk1"/>
                </a:solidFill>
              </a:rPr>
              <a:t>read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my_tuple[0]</a:t>
            </a:r>
            <a:r>
              <a:rPr lang="en" sz="1100">
                <a:solidFill>
                  <a:schemeClr val="dk1"/>
                </a:solidFill>
              </a:rPr>
              <a:t>, but you cannot </a:t>
            </a:r>
            <a:r>
              <a:rPr i="1" lang="en" sz="1100">
                <a:solidFill>
                  <a:schemeClr val="dk1"/>
                </a:solidFill>
              </a:rPr>
              <a:t>assign</a:t>
            </a:r>
            <a:r>
              <a:rPr lang="en" sz="1100">
                <a:solidFill>
                  <a:schemeClr val="dk1"/>
                </a:solidFill>
              </a:rPr>
              <a:t> to it (e.g.,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my_tuple[0] = "New"</a:t>
            </a:r>
            <a:r>
              <a:rPr lang="en" sz="1100">
                <a:solidFill>
                  <a:schemeClr val="dk1"/>
                </a:solidFill>
              </a:rPr>
              <a:t> will raise 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TypeError</a:t>
            </a:r>
            <a:r>
              <a:rPr lang="en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Example: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point = (10, 20)</a:t>
            </a:r>
            <a:r>
              <a:rPr lang="en" sz="1100">
                <a:solidFill>
                  <a:schemeClr val="dk1"/>
                </a:solidFill>
              </a:rPr>
              <a:t>;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 = point[0]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 title="Screenshot 2026-04-20 0926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9675" y="1645150"/>
            <a:ext cx="3759300" cy="926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Screenshot 2026-04-20 09271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9674" y="2754850"/>
            <a:ext cx="3759301" cy="880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Accessing Items (The Comparison) Continued…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4768200" cy="39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Accessing data works differently for Tuples and Sets because one is ordered and the other is not.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Accessing Set Items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The Restriction:</a:t>
            </a:r>
            <a:r>
              <a:rPr lang="en" sz="1100">
                <a:solidFill>
                  <a:schemeClr val="dk1"/>
                </a:solidFill>
              </a:rPr>
              <a:t> Sets are </a:t>
            </a:r>
            <a:r>
              <a:rPr b="1" lang="en" sz="1100">
                <a:solidFill>
                  <a:schemeClr val="dk1"/>
                </a:solidFill>
              </a:rPr>
              <a:t>unordered</a:t>
            </a:r>
            <a:r>
              <a:rPr lang="en" sz="1100">
                <a:solidFill>
                  <a:schemeClr val="dk1"/>
                </a:solidFill>
              </a:rPr>
              <a:t>, meaning they have </a:t>
            </a:r>
            <a:r>
              <a:rPr b="1" lang="en" sz="1100">
                <a:solidFill>
                  <a:schemeClr val="dk1"/>
                </a:solidFill>
              </a:rPr>
              <a:t>no index</a:t>
            </a:r>
            <a:r>
              <a:rPr lang="en" sz="1100">
                <a:solidFill>
                  <a:schemeClr val="dk1"/>
                </a:solidFill>
              </a:rPr>
              <a:t>. You cannot 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my_set[0]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The Solution: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Looping:</a:t>
            </a:r>
            <a:r>
              <a:rPr lang="en" sz="1100">
                <a:solidFill>
                  <a:schemeClr val="dk1"/>
                </a:solidFill>
              </a:rPr>
              <a:t> Use 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" sz="1100">
                <a:solidFill>
                  <a:schemeClr val="dk1"/>
                </a:solidFill>
              </a:rPr>
              <a:t> loop to go through the whole collection.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Membership Check:</a:t>
            </a:r>
            <a:r>
              <a:rPr lang="en" sz="1100">
                <a:solidFill>
                  <a:schemeClr val="dk1"/>
                </a:solidFill>
              </a:rPr>
              <a:t> Use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en" sz="1100">
                <a:solidFill>
                  <a:schemeClr val="dk1"/>
                </a:solidFill>
              </a:rPr>
              <a:t> keyword to see if a specific value exists.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Example: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 "Admin" in user_roles: print("Access Granted")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 title="Screenshot 2026-04-20 0928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7475" y="3501925"/>
            <a:ext cx="4115650" cy="914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Screenshot 2026-04-20 09295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7475" y="1152475"/>
            <a:ext cx="4115650" cy="216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Iterating Through Tuples and Sets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4292100" cy="37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Approach:</a:t>
            </a:r>
            <a:r>
              <a:rPr lang="en" sz="1100">
                <a:solidFill>
                  <a:schemeClr val="dk1"/>
                </a:solidFill>
              </a:rPr>
              <a:t> Both use the same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 item in collection:</a:t>
            </a:r>
            <a:r>
              <a:rPr lang="en" sz="1100">
                <a:solidFill>
                  <a:schemeClr val="dk1"/>
                </a:solidFill>
              </a:rPr>
              <a:t> syntax as lists.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Key Difference: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Tuples:</a:t>
            </a:r>
            <a:r>
              <a:rPr lang="en" sz="1100">
                <a:solidFill>
                  <a:schemeClr val="dk1"/>
                </a:solidFill>
              </a:rPr>
              <a:t> Iteration happens in a predictable, fixed order.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Sets:</a:t>
            </a:r>
            <a:r>
              <a:rPr lang="en" sz="1100">
                <a:solidFill>
                  <a:schemeClr val="dk1"/>
                </a:solidFill>
              </a:rPr>
              <a:t> Since sets are unordered, the items might appear in a different order every time you run the loop.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Rule of Thumb:</a:t>
            </a:r>
            <a:r>
              <a:rPr lang="en" sz="1100">
                <a:solidFill>
                  <a:schemeClr val="dk1"/>
                </a:solidFill>
              </a:rPr>
              <a:t> If the </a:t>
            </a:r>
            <a:r>
              <a:rPr i="1" lang="en" sz="1100">
                <a:solidFill>
                  <a:schemeClr val="dk1"/>
                </a:solidFill>
              </a:rPr>
              <a:t>sequence</a:t>
            </a:r>
            <a:r>
              <a:rPr lang="en" sz="1100">
                <a:solidFill>
                  <a:schemeClr val="dk1"/>
                </a:solidFill>
              </a:rPr>
              <a:t> of your items matters during the loop, use a Tuple. If you only care that each item is processed once, a Set is fine.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8" title="Screenshot 2026-04-20 0923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2263" y="1101975"/>
            <a:ext cx="2962275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Screenshot 2026-04-20 09243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2275" y="3013625"/>
            <a:ext cx="4010025" cy="11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Goal:</a:t>
            </a:r>
            <a:r>
              <a:rPr lang="en" sz="1100">
                <a:solidFill>
                  <a:schemeClr val="dk1"/>
                </a:solidFill>
              </a:rPr>
              <a:t> Securely store a location's fixed coordinates (Tuple) and filter a list of visitor IDs to find unique attendees (Set).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Execution Steps: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Define Constants:</a:t>
            </a:r>
            <a:r>
              <a:rPr lang="en" sz="1100">
                <a:solidFill>
                  <a:schemeClr val="dk1"/>
                </a:solidFill>
              </a:rPr>
              <a:t> Store a "Home Base" location in a </a:t>
            </a:r>
            <a:r>
              <a:rPr b="1" lang="en" sz="1100">
                <a:solidFill>
                  <a:schemeClr val="dk1"/>
                </a:solidFill>
              </a:rPr>
              <a:t>tuple</a:t>
            </a:r>
            <a:r>
              <a:rPr lang="en" sz="1100">
                <a:solidFill>
                  <a:schemeClr val="dk1"/>
                </a:solidFill>
              </a:rPr>
              <a:t> so it cannot be accidentally modified.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Filter Data:</a:t>
            </a:r>
            <a:r>
              <a:rPr lang="en" sz="1100">
                <a:solidFill>
                  <a:schemeClr val="dk1"/>
                </a:solidFill>
              </a:rPr>
              <a:t> Take a list of visitor IDs (which contains duplicates) and convert it into a </a:t>
            </a:r>
            <a:r>
              <a:rPr b="1" lang="en" sz="1100">
                <a:solidFill>
                  <a:schemeClr val="dk1"/>
                </a:solidFill>
              </a:rPr>
              <a:t>set</a:t>
            </a:r>
            <a:r>
              <a:rPr lang="en" sz="1100">
                <a:solidFill>
                  <a:schemeClr val="dk1"/>
                </a:solidFill>
              </a:rPr>
              <a:t> to get unique visitors.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Iterate and Report:</a:t>
            </a:r>
            <a:r>
              <a:rPr lang="en" sz="1100">
                <a:solidFill>
                  <a:schemeClr val="dk1"/>
                </a:solidFill>
              </a:rPr>
              <a:t> Loop through both collections to print a summary of the location and the unique IDs present.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