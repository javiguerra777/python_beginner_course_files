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 Mon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italic.fntdata"/><Relationship Id="rId14" Type="http://schemas.openxmlformats.org/officeDocument/2006/relationships/font" Target="fonts/RobotoMono-bold.fntdata"/><Relationship Id="rId16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8287499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8287499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82874997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82874997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82874997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82874997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82874997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82874997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82874997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82874997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82874997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82874997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Dictionaries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Dictionary?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4458000" cy="38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Definition:</a:t>
            </a:r>
            <a:r>
              <a:rPr lang="en" sz="1100">
                <a:solidFill>
                  <a:schemeClr val="dk1"/>
                </a:solidFill>
              </a:rPr>
              <a:t> A collection of data stored as </a:t>
            </a:r>
            <a:r>
              <a:rPr b="1" lang="en" sz="1100">
                <a:solidFill>
                  <a:schemeClr val="dk1"/>
                </a:solidFill>
              </a:rPr>
              <a:t>Key-Value pairs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Real-World Link:</a:t>
            </a:r>
            <a:r>
              <a:rPr lang="en" sz="1100">
                <a:solidFill>
                  <a:schemeClr val="dk1"/>
                </a:solidFill>
              </a:rPr>
              <a:t> Much like a physical dictionary where you look up a </a:t>
            </a:r>
            <a:r>
              <a:rPr b="1" lang="en" sz="1100">
                <a:solidFill>
                  <a:schemeClr val="dk1"/>
                </a:solidFill>
              </a:rPr>
              <a:t>word</a:t>
            </a:r>
            <a:r>
              <a:rPr lang="en" sz="1100">
                <a:solidFill>
                  <a:schemeClr val="dk1"/>
                </a:solidFill>
              </a:rPr>
              <a:t> (key) to find its </a:t>
            </a:r>
            <a:r>
              <a:rPr b="1" lang="en" sz="1100">
                <a:solidFill>
                  <a:schemeClr val="dk1"/>
                </a:solidFill>
              </a:rPr>
              <a:t>definition</a:t>
            </a:r>
            <a:r>
              <a:rPr lang="en" sz="1100">
                <a:solidFill>
                  <a:schemeClr val="dk1"/>
                </a:solidFill>
              </a:rPr>
              <a:t> (value).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Syntax:</a:t>
            </a:r>
            <a:r>
              <a:rPr lang="en" sz="1100">
                <a:solidFill>
                  <a:schemeClr val="dk1"/>
                </a:solidFill>
              </a:rPr>
              <a:t> Uses curly braces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{}</a:t>
            </a:r>
            <a:r>
              <a:rPr lang="en" sz="1100">
                <a:solidFill>
                  <a:schemeClr val="dk1"/>
                </a:solidFill>
              </a:rPr>
              <a:t> with colons separating keys and values.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my_dict = {"key": "value"}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Uniqueness:</a:t>
            </a:r>
            <a:r>
              <a:rPr lang="en" sz="1100">
                <a:solidFill>
                  <a:schemeClr val="dk1"/>
                </a:solidFill>
              </a:rPr>
              <a:t> Keys must be unique (you can't have two identical entries in a phonebook), but values can be anything.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 title="Screenshot 2026-04-20 1508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9700" y="1978100"/>
            <a:ext cx="4069500" cy="220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Anatomy of a Dictionary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Key:</a:t>
            </a:r>
            <a:r>
              <a:rPr lang="en" sz="1100">
                <a:solidFill>
                  <a:schemeClr val="dk1"/>
                </a:solidFill>
              </a:rPr>
              <a:t> The unique identifier (usually a string or integer). Think of it as a "label."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Value:</a:t>
            </a:r>
            <a:r>
              <a:rPr lang="en" sz="1100">
                <a:solidFill>
                  <a:schemeClr val="dk1"/>
                </a:solidFill>
              </a:rPr>
              <a:t> The data associated with that label (can be lists, numbers, strings, or even other dictionaries).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Mapping:</a:t>
            </a:r>
            <a:r>
              <a:rPr lang="en" sz="1100">
                <a:solidFill>
                  <a:schemeClr val="dk1"/>
                </a:solidFill>
              </a:rPr>
              <a:t> Dictionaries are "mapped" collections, meaning they don't rely on order/index (like lists) but on the relationship between the key and value.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Real-World Use Cases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User Profiles:</a:t>
            </a:r>
            <a:r>
              <a:rPr lang="en" sz="1100">
                <a:solidFill>
                  <a:schemeClr val="dk1"/>
                </a:solidFill>
              </a:rPr>
              <a:t> Mapping 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username</a:t>
            </a:r>
            <a:r>
              <a:rPr lang="en" sz="1100">
                <a:solidFill>
                  <a:schemeClr val="dk1"/>
                </a:solidFill>
              </a:rPr>
              <a:t> to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account_settings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Inventory Management:</a:t>
            </a:r>
            <a:r>
              <a:rPr lang="en" sz="1100">
                <a:solidFill>
                  <a:schemeClr val="dk1"/>
                </a:solidFill>
              </a:rPr>
              <a:t> Mapping 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product_id</a:t>
            </a:r>
            <a:r>
              <a:rPr lang="en" sz="1100">
                <a:solidFill>
                  <a:schemeClr val="dk1"/>
                </a:solidFill>
              </a:rPr>
              <a:t> to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stock_quantity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Digital Menus:</a:t>
            </a:r>
            <a:r>
              <a:rPr lang="en" sz="1100">
                <a:solidFill>
                  <a:schemeClr val="dk1"/>
                </a:solidFill>
              </a:rPr>
              <a:t> Mapping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dish_name</a:t>
            </a:r>
            <a:r>
              <a:rPr lang="en" sz="1100">
                <a:solidFill>
                  <a:schemeClr val="dk1"/>
                </a:solidFill>
              </a:rPr>
              <a:t> to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price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Geographic Data:</a:t>
            </a:r>
            <a:r>
              <a:rPr lang="en" sz="1100">
                <a:solidFill>
                  <a:schemeClr val="dk1"/>
                </a:solidFill>
              </a:rPr>
              <a:t> Mapping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city_name</a:t>
            </a:r>
            <a:r>
              <a:rPr lang="en" sz="1100">
                <a:solidFill>
                  <a:schemeClr val="dk1"/>
                </a:solidFill>
              </a:rPr>
              <a:t> to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coordinates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Dictionary Operations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3527400" cy="38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Accessing: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menu["Pizza"]</a:t>
            </a:r>
            <a:r>
              <a:rPr lang="en" sz="1100">
                <a:solidFill>
                  <a:schemeClr val="dk1"/>
                </a:solidFill>
              </a:rPr>
              <a:t> returns the price.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Adding/Updating: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menu["Pasta"] = 12.99</a:t>
            </a:r>
            <a:r>
              <a:rPr lang="en" sz="1100">
                <a:solidFill>
                  <a:schemeClr val="dk1"/>
                </a:solidFill>
              </a:rPr>
              <a:t> (adds a new item or changes an existing one).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Deleting: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 menu["Pizza"]</a:t>
            </a:r>
            <a:r>
              <a:rPr lang="en" sz="1100">
                <a:solidFill>
                  <a:schemeClr val="dk1"/>
                </a:solidFill>
              </a:rPr>
              <a:t> removes the entry.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Methods: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.keys()</a:t>
            </a:r>
            <a:r>
              <a:rPr lang="en" sz="1100">
                <a:solidFill>
                  <a:schemeClr val="dk1"/>
                </a:solidFill>
              </a:rPr>
              <a:t> — Get all labels.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.values()</a:t>
            </a:r>
            <a:r>
              <a:rPr lang="en" sz="1100">
                <a:solidFill>
                  <a:schemeClr val="dk1"/>
                </a:solidFill>
              </a:rPr>
              <a:t> — Get all data points.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.items()</a:t>
            </a:r>
            <a:r>
              <a:rPr lang="en" sz="1100">
                <a:solidFill>
                  <a:schemeClr val="dk1"/>
                </a:solidFill>
              </a:rPr>
              <a:t> — Get both as pairs.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 title="Screenshot 2026-04-20 1510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2375" y="1017725"/>
            <a:ext cx="3600450" cy="303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Dictionary Operations Continued…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3527400" cy="38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Methods: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.keys()</a:t>
            </a:r>
            <a:r>
              <a:rPr lang="en" sz="1100">
                <a:solidFill>
                  <a:schemeClr val="dk1"/>
                </a:solidFill>
              </a:rPr>
              <a:t> — Get all labels.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.values()</a:t>
            </a:r>
            <a:r>
              <a:rPr lang="en" sz="1100">
                <a:solidFill>
                  <a:schemeClr val="dk1"/>
                </a:solidFill>
              </a:rPr>
              <a:t> — Get all data points.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.items()</a:t>
            </a:r>
            <a:r>
              <a:rPr lang="en" sz="1100">
                <a:solidFill>
                  <a:schemeClr val="dk1"/>
                </a:solidFill>
              </a:rPr>
              <a:t> — Get both as pairs.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8" title="Screenshot 2026-04-20 1513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5425" y="1219925"/>
            <a:ext cx="5000099" cy="2703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The Goal:</a:t>
            </a:r>
            <a:r>
              <a:rPr lang="en" sz="1100">
                <a:solidFill>
                  <a:schemeClr val="dk1"/>
                </a:solidFill>
              </a:rPr>
              <a:t> Create a digital "Contact Card" system to manage employee information.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Steps to Complete the Example: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Initialize the Map:</a:t>
            </a:r>
            <a:r>
              <a:rPr lang="en" sz="1100">
                <a:solidFill>
                  <a:schemeClr val="dk1"/>
                </a:solidFill>
              </a:rPr>
              <a:t> 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{}</a:t>
            </a:r>
            <a:r>
              <a:rPr lang="en" sz="1100">
                <a:solidFill>
                  <a:schemeClr val="dk1"/>
                </a:solidFill>
              </a:rPr>
              <a:t> to define your core entity. Choose clear, descriptive keys (e.g.,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"name"</a:t>
            </a:r>
            <a:r>
              <a:rPr lang="en" sz="1100">
                <a:solidFill>
                  <a:schemeClr val="dk1"/>
                </a:solidFill>
              </a:rPr>
              <a:t> instead of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"n"</a:t>
            </a:r>
            <a:r>
              <a:rPr lang="en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Retrieve Data:</a:t>
            </a:r>
            <a:r>
              <a:rPr lang="en" sz="1100">
                <a:solidFill>
                  <a:schemeClr val="dk1"/>
                </a:solidFill>
              </a:rPr>
              <a:t> Use square brackets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[]</a:t>
            </a:r>
            <a:r>
              <a:rPr lang="en" sz="1100">
                <a:solidFill>
                  <a:schemeClr val="dk1"/>
                </a:solidFill>
              </a:rPr>
              <a:t> to call a key. </a:t>
            </a:r>
            <a:r>
              <a:rPr i="1" lang="en" sz="1100">
                <a:solidFill>
                  <a:schemeClr val="dk1"/>
                </a:solidFill>
              </a:rPr>
              <a:t>Note: If the key doesn't exist, Python will throw an error.</a:t>
            </a: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Modify the State:</a:t>
            </a:r>
            <a:r>
              <a:rPr lang="en" sz="1100">
                <a:solidFill>
                  <a:schemeClr val="dk1"/>
                </a:solidFill>
              </a:rPr>
              <a:t> Update the dictionary as information changes in real-time. This demonstrates the </a:t>
            </a:r>
            <a:r>
              <a:rPr b="1" lang="en" sz="1100">
                <a:solidFill>
                  <a:schemeClr val="dk1"/>
                </a:solidFill>
              </a:rPr>
              <a:t>mutability</a:t>
            </a:r>
            <a:r>
              <a:rPr lang="en" sz="1100">
                <a:solidFill>
                  <a:schemeClr val="dk1"/>
                </a:solidFill>
              </a:rPr>
              <a:t> of dictionaries.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Expand the Data:</a:t>
            </a:r>
            <a:r>
              <a:rPr lang="en" sz="1100">
                <a:solidFill>
                  <a:schemeClr val="dk1"/>
                </a:solidFill>
              </a:rPr>
              <a:t> Add new fields (like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email</a:t>
            </a:r>
            <a:r>
              <a:rPr lang="en" sz="1100">
                <a:solidFill>
                  <a:schemeClr val="dk1"/>
                </a:solidFill>
              </a:rPr>
              <a:t>) without needing to redefine the entire structure.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Display:</a:t>
            </a:r>
            <a:r>
              <a:rPr lang="en" sz="1100">
                <a:solidFill>
                  <a:schemeClr val="dk1"/>
                </a:solidFill>
              </a:rPr>
              <a:t> Use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.items()</a:t>
            </a:r>
            <a:r>
              <a:rPr lang="en" sz="1100">
                <a:solidFill>
                  <a:schemeClr val="dk1"/>
                </a:solidFill>
              </a:rPr>
              <a:t> method in a loop to cleanly print the "Real-world mapping" for the user.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