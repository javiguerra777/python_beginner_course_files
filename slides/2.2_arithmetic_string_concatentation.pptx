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Roboto Mono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RobotoMono-bold.fntdata"/><Relationship Id="rId16" Type="http://schemas.openxmlformats.org/officeDocument/2006/relationships/font" Target="fonts/RobotoMono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RobotoMono-boldItalic.fntdata"/><Relationship Id="rId6" Type="http://schemas.openxmlformats.org/officeDocument/2006/relationships/slide" Target="slides/slide1.xml"/><Relationship Id="rId18" Type="http://schemas.openxmlformats.org/officeDocument/2006/relationships/font" Target="fonts/RobotoMono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d71f1dfd6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d71f1dfd6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d71f1dfd68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d71f1dfd68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d71f1dfd68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d71f1dfd68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d71f1dfd68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d71f1dfd68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d71f1dfd68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d71f1dfd68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d71f1dfd68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d71f1dfd68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d71f1dfd68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d71f1dfd68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d71f1dfd68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d71f1dfd68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d71f1dfd68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d71f1dfd68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Relationship Id="rId4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Python Basic Arithmetic and String Concatentation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 to Operators</a:t>
            </a:r>
            <a:endParaRPr/>
          </a:p>
        </p:txBody>
      </p:sp>
      <p:sp>
        <p:nvSpPr>
          <p:cNvPr id="60" name="Google Shape;60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The Concept:</a:t>
            </a:r>
            <a:r>
              <a:rPr lang="en" sz="1100">
                <a:solidFill>
                  <a:schemeClr val="dk1"/>
                </a:solidFill>
              </a:rPr>
              <a:t> Operators are special symbols that carry out arithmetic or logical computations.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The Goal:</a:t>
            </a:r>
            <a:r>
              <a:rPr lang="en" sz="1100">
                <a:solidFill>
                  <a:schemeClr val="dk1"/>
                </a:solidFill>
              </a:rPr>
              <a:t> Today we look at how Python acts as a powerful calculator and a "text gluer."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Two Categories: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" sz="1100">
                <a:solidFill>
                  <a:schemeClr val="dk1"/>
                </a:solidFill>
              </a:rPr>
              <a:t>Arithmetic Operators:</a:t>
            </a:r>
            <a:r>
              <a:rPr lang="en" sz="1100">
                <a:solidFill>
                  <a:schemeClr val="dk1"/>
                </a:solidFill>
              </a:rPr>
              <a:t> For numbers (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int</a:t>
            </a:r>
            <a:r>
              <a:rPr lang="en" sz="1100">
                <a:solidFill>
                  <a:schemeClr val="dk1"/>
                </a:solidFill>
              </a:rPr>
              <a:t> and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float</a:t>
            </a:r>
            <a:r>
              <a:rPr lang="en" sz="1100">
                <a:solidFill>
                  <a:schemeClr val="dk1"/>
                </a:solidFill>
              </a:rPr>
              <a:t>).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" sz="1100">
                <a:solidFill>
                  <a:schemeClr val="dk1"/>
                </a:solidFill>
              </a:rPr>
              <a:t>String Concatenation:</a:t>
            </a:r>
            <a:r>
              <a:rPr lang="en" sz="1100">
                <a:solidFill>
                  <a:schemeClr val="dk1"/>
                </a:solidFill>
              </a:rPr>
              <a:t> For joining text (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str</a:t>
            </a:r>
            <a:r>
              <a:rPr lang="en" sz="1100">
                <a:solidFill>
                  <a:schemeClr val="dk1"/>
                </a:solidFill>
              </a:rPr>
              <a:t>).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Basic Arithmetic (The Big Four)</a:t>
            </a:r>
            <a:endParaRPr/>
          </a:p>
        </p:txBody>
      </p:sp>
      <p:sp>
        <p:nvSpPr>
          <p:cNvPr id="66" name="Google Shape;66;p15"/>
          <p:cNvSpPr txBox="1"/>
          <p:nvPr>
            <p:ph idx="1" type="body"/>
          </p:nvPr>
        </p:nvSpPr>
        <p:spPr>
          <a:xfrm>
            <a:off x="311700" y="1152475"/>
            <a:ext cx="4176900" cy="343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Addition (</a:t>
            </a:r>
            <a:r>
              <a:rPr b="1" lang="en" sz="1100">
                <a:solidFill>
                  <a:srgbClr val="188038"/>
                </a:solidFill>
              </a:rPr>
              <a:t>+</a:t>
            </a:r>
            <a:r>
              <a:rPr b="1" lang="en" sz="1100">
                <a:solidFill>
                  <a:schemeClr val="dk1"/>
                </a:solidFill>
              </a:rPr>
              <a:t>):</a:t>
            </a:r>
            <a:r>
              <a:rPr lang="en" sz="1100">
                <a:solidFill>
                  <a:schemeClr val="dk1"/>
                </a:solidFill>
              </a:rPr>
              <a:t> Adds values on either side.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rgbClr val="188038"/>
                </a:solidFill>
              </a:rPr>
              <a:t>5 + 3</a:t>
            </a:r>
            <a:r>
              <a:rPr lang="en" sz="1100">
                <a:solidFill>
                  <a:schemeClr val="dk1"/>
                </a:solidFill>
              </a:rPr>
              <a:t> -&gt; </a:t>
            </a:r>
            <a:r>
              <a:rPr lang="en" sz="1100">
                <a:solidFill>
                  <a:srgbClr val="188038"/>
                </a:solidFill>
              </a:rPr>
              <a:t>8</a:t>
            </a:r>
            <a:endParaRPr sz="1100">
              <a:solidFill>
                <a:srgbClr val="188038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Subtraction (</a:t>
            </a:r>
            <a:r>
              <a:rPr b="1" lang="en" sz="1100">
                <a:solidFill>
                  <a:srgbClr val="188038"/>
                </a:solidFill>
              </a:rPr>
              <a:t>-</a:t>
            </a:r>
            <a:r>
              <a:rPr b="1" lang="en" sz="1100">
                <a:solidFill>
                  <a:schemeClr val="dk1"/>
                </a:solidFill>
              </a:rPr>
              <a:t>):</a:t>
            </a:r>
            <a:r>
              <a:rPr lang="en" sz="1100">
                <a:solidFill>
                  <a:schemeClr val="dk1"/>
                </a:solidFill>
              </a:rPr>
              <a:t> Subtracts right operand from left.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rgbClr val="188038"/>
                </a:solidFill>
              </a:rPr>
              <a:t>10 - 4</a:t>
            </a:r>
            <a:r>
              <a:rPr lang="en" sz="1100">
                <a:solidFill>
                  <a:schemeClr val="dk1"/>
                </a:solidFill>
              </a:rPr>
              <a:t> </a:t>
            </a:r>
            <a:r>
              <a:rPr lang="en" sz="1100">
                <a:solidFill>
                  <a:schemeClr val="dk1"/>
                </a:solidFill>
              </a:rPr>
              <a:t>-&gt;</a:t>
            </a:r>
            <a:r>
              <a:rPr lang="en" sz="1100">
                <a:solidFill>
                  <a:schemeClr val="dk1"/>
                </a:solidFill>
              </a:rPr>
              <a:t> </a:t>
            </a:r>
            <a:r>
              <a:rPr lang="en" sz="1100">
                <a:solidFill>
                  <a:srgbClr val="188038"/>
                </a:solidFill>
              </a:rPr>
              <a:t>6</a:t>
            </a:r>
            <a:endParaRPr sz="1100">
              <a:solidFill>
                <a:srgbClr val="188038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Multiplication (</a:t>
            </a:r>
            <a:r>
              <a:rPr b="1" lang="en" sz="1100">
                <a:solidFill>
                  <a:srgbClr val="188038"/>
                </a:solidFill>
              </a:rPr>
              <a:t>*</a:t>
            </a:r>
            <a:r>
              <a:rPr b="1" lang="en" sz="1100">
                <a:solidFill>
                  <a:schemeClr val="dk1"/>
                </a:solidFill>
              </a:rPr>
              <a:t>):</a:t>
            </a:r>
            <a:r>
              <a:rPr lang="en" sz="1100">
                <a:solidFill>
                  <a:schemeClr val="dk1"/>
                </a:solidFill>
              </a:rPr>
              <a:t> Multiplies values.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rgbClr val="188038"/>
                </a:solidFill>
              </a:rPr>
              <a:t>3 * 4</a:t>
            </a:r>
            <a:r>
              <a:rPr lang="en" sz="1100">
                <a:solidFill>
                  <a:schemeClr val="dk1"/>
                </a:solidFill>
              </a:rPr>
              <a:t> </a:t>
            </a:r>
            <a:r>
              <a:rPr lang="en" sz="1100">
                <a:solidFill>
                  <a:schemeClr val="dk1"/>
                </a:solidFill>
              </a:rPr>
              <a:t>-&gt;</a:t>
            </a:r>
            <a:r>
              <a:rPr lang="en" sz="1100">
                <a:solidFill>
                  <a:schemeClr val="dk1"/>
                </a:solidFill>
              </a:rPr>
              <a:t> </a:t>
            </a:r>
            <a:r>
              <a:rPr lang="en" sz="1100">
                <a:solidFill>
                  <a:srgbClr val="188038"/>
                </a:solidFill>
              </a:rPr>
              <a:t>12</a:t>
            </a:r>
            <a:endParaRPr sz="1100">
              <a:solidFill>
                <a:srgbClr val="188038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Division (</a:t>
            </a:r>
            <a:r>
              <a:rPr b="1" lang="en" sz="1100">
                <a:solidFill>
                  <a:srgbClr val="188038"/>
                </a:solidFill>
              </a:rPr>
              <a:t>/</a:t>
            </a:r>
            <a:r>
              <a:rPr b="1" lang="en" sz="1100">
                <a:solidFill>
                  <a:schemeClr val="dk1"/>
                </a:solidFill>
              </a:rPr>
              <a:t>):</a:t>
            </a:r>
            <a:r>
              <a:rPr lang="en" sz="1100">
                <a:solidFill>
                  <a:schemeClr val="dk1"/>
                </a:solidFill>
              </a:rPr>
              <a:t> Divides left operand by right.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Note:</a:t>
            </a:r>
            <a:r>
              <a:rPr lang="en" sz="1100">
                <a:solidFill>
                  <a:schemeClr val="dk1"/>
                </a:solidFill>
              </a:rPr>
              <a:t> In Python, division </a:t>
            </a:r>
            <a:r>
              <a:rPr i="1" lang="en" sz="1100">
                <a:solidFill>
                  <a:schemeClr val="dk1"/>
                </a:solidFill>
              </a:rPr>
              <a:t>always</a:t>
            </a:r>
            <a:r>
              <a:rPr lang="en" sz="1100">
                <a:solidFill>
                  <a:schemeClr val="dk1"/>
                </a:solidFill>
              </a:rPr>
              <a:t> returns a </a:t>
            </a:r>
            <a:r>
              <a:rPr b="1" lang="en" sz="1100">
                <a:solidFill>
                  <a:schemeClr val="dk1"/>
                </a:solidFill>
              </a:rPr>
              <a:t>float</a:t>
            </a:r>
            <a:r>
              <a:rPr lang="en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rgbClr val="188038"/>
                </a:solidFill>
              </a:rPr>
              <a:t>10 / 2</a:t>
            </a:r>
            <a:r>
              <a:rPr lang="en" sz="1100">
                <a:solidFill>
                  <a:schemeClr val="dk1"/>
                </a:solidFill>
              </a:rPr>
              <a:t> </a:t>
            </a:r>
            <a:r>
              <a:rPr lang="en" sz="1100">
                <a:solidFill>
                  <a:schemeClr val="dk1"/>
                </a:solidFill>
              </a:rPr>
              <a:t>-&gt;</a:t>
            </a:r>
            <a:r>
              <a:rPr lang="en" sz="1100">
                <a:solidFill>
                  <a:schemeClr val="dk1"/>
                </a:solidFill>
              </a:rPr>
              <a:t> </a:t>
            </a:r>
            <a:r>
              <a:rPr lang="en" sz="1100">
                <a:solidFill>
                  <a:srgbClr val="188038"/>
                </a:solidFill>
              </a:rPr>
              <a:t>5.0</a:t>
            </a:r>
            <a:endParaRPr sz="1100">
              <a:solidFill>
                <a:srgbClr val="188038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7" name="Google Shape;67;p15" title="Screenshot 2026-04-17 13073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36775" y="1611600"/>
            <a:ext cx="3596975" cy="1920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Advanced Math Operators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4176900" cy="33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Floor Division (</a:t>
            </a:r>
            <a:r>
              <a:rPr b="1" lang="en" sz="1100">
                <a:solidFill>
                  <a:srgbClr val="188038"/>
                </a:solidFill>
              </a:rPr>
              <a:t>//</a:t>
            </a:r>
            <a:r>
              <a:rPr b="1" lang="en" sz="1100">
                <a:solidFill>
                  <a:schemeClr val="dk1"/>
                </a:solidFill>
              </a:rPr>
              <a:t>):</a:t>
            </a:r>
            <a:r>
              <a:rPr lang="en" sz="1100">
                <a:solidFill>
                  <a:schemeClr val="dk1"/>
                </a:solidFill>
              </a:rPr>
              <a:t> Divides and rounds down to the nearest whole number.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rgbClr val="188038"/>
                </a:solidFill>
              </a:rPr>
              <a:t>11 // 3</a:t>
            </a:r>
            <a:r>
              <a:rPr lang="en" sz="1100">
                <a:solidFill>
                  <a:schemeClr val="dk1"/>
                </a:solidFill>
              </a:rPr>
              <a:t> </a:t>
            </a:r>
            <a:r>
              <a:rPr lang="en" sz="1100">
                <a:solidFill>
                  <a:schemeClr val="dk1"/>
                </a:solidFill>
              </a:rPr>
              <a:t>-&gt;</a:t>
            </a:r>
            <a:r>
              <a:rPr lang="en" sz="1100">
                <a:solidFill>
                  <a:schemeClr val="dk1"/>
                </a:solidFill>
              </a:rPr>
              <a:t> </a:t>
            </a:r>
            <a:r>
              <a:rPr lang="en" sz="1100">
                <a:solidFill>
                  <a:srgbClr val="188038"/>
                </a:solidFill>
              </a:rPr>
              <a:t>3</a:t>
            </a:r>
            <a:endParaRPr sz="1100">
              <a:solidFill>
                <a:srgbClr val="188038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Modulo (</a:t>
            </a:r>
            <a:r>
              <a:rPr b="1" lang="en" sz="1100">
                <a:solidFill>
                  <a:srgbClr val="188038"/>
                </a:solidFill>
              </a:rPr>
              <a:t>%</a:t>
            </a:r>
            <a:r>
              <a:rPr b="1" lang="en" sz="1100">
                <a:solidFill>
                  <a:schemeClr val="dk1"/>
                </a:solidFill>
              </a:rPr>
              <a:t>):</a:t>
            </a:r>
            <a:r>
              <a:rPr lang="en" sz="1100">
                <a:solidFill>
                  <a:schemeClr val="dk1"/>
                </a:solidFill>
              </a:rPr>
              <a:t> Returns the </a:t>
            </a:r>
            <a:r>
              <a:rPr b="1" lang="en" sz="1100">
                <a:solidFill>
                  <a:schemeClr val="dk1"/>
                </a:solidFill>
              </a:rPr>
              <a:t>remainder</a:t>
            </a:r>
            <a:r>
              <a:rPr lang="en" sz="1100">
                <a:solidFill>
                  <a:schemeClr val="dk1"/>
                </a:solidFill>
              </a:rPr>
              <a:t> of a division.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rgbClr val="188038"/>
                </a:solidFill>
              </a:rPr>
              <a:t>11 % 3</a:t>
            </a:r>
            <a:r>
              <a:rPr lang="en" sz="1100">
                <a:solidFill>
                  <a:schemeClr val="dk1"/>
                </a:solidFill>
              </a:rPr>
              <a:t> </a:t>
            </a:r>
            <a:r>
              <a:rPr lang="en" sz="1100">
                <a:solidFill>
                  <a:schemeClr val="dk1"/>
                </a:solidFill>
              </a:rPr>
              <a:t>-&gt;</a:t>
            </a:r>
            <a:r>
              <a:rPr lang="en" sz="1100">
                <a:solidFill>
                  <a:schemeClr val="dk1"/>
                </a:solidFill>
              </a:rPr>
              <a:t> </a:t>
            </a:r>
            <a:r>
              <a:rPr lang="en" sz="1100">
                <a:solidFill>
                  <a:srgbClr val="188038"/>
                </a:solidFill>
              </a:rPr>
              <a:t>2</a:t>
            </a:r>
            <a:r>
              <a:rPr lang="en" sz="1100">
                <a:solidFill>
                  <a:schemeClr val="dk1"/>
                </a:solidFill>
              </a:rPr>
              <a:t> (Because 3 goes into 11 three times with 2 left over).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Exponentiation (</a:t>
            </a:r>
            <a:r>
              <a:rPr b="1" lang="en" sz="1100">
                <a:solidFill>
                  <a:srgbClr val="188038"/>
                </a:solidFill>
              </a:rPr>
              <a:t>**</a:t>
            </a:r>
            <a:r>
              <a:rPr b="1" lang="en" sz="1100">
                <a:solidFill>
                  <a:schemeClr val="dk1"/>
                </a:solidFill>
              </a:rPr>
              <a:t>):</a:t>
            </a:r>
            <a:r>
              <a:rPr lang="en" sz="1100">
                <a:solidFill>
                  <a:schemeClr val="dk1"/>
                </a:solidFill>
              </a:rPr>
              <a:t> Raises the first number to the power of the second.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rgbClr val="188038"/>
                </a:solidFill>
              </a:rPr>
              <a:t>2 ** 3</a:t>
            </a:r>
            <a:r>
              <a:rPr lang="en" sz="1100">
                <a:solidFill>
                  <a:schemeClr val="dk1"/>
                </a:solidFill>
              </a:rPr>
              <a:t> </a:t>
            </a:r>
            <a:r>
              <a:rPr lang="en" sz="1100">
                <a:solidFill>
                  <a:schemeClr val="dk1"/>
                </a:solidFill>
              </a:rPr>
              <a:t>-&gt;</a:t>
            </a:r>
            <a:r>
              <a:rPr lang="en" sz="1100">
                <a:solidFill>
                  <a:schemeClr val="dk1"/>
                </a:solidFill>
              </a:rPr>
              <a:t> </a:t>
            </a:r>
            <a:r>
              <a:rPr lang="en" sz="1100">
                <a:solidFill>
                  <a:srgbClr val="188038"/>
                </a:solidFill>
              </a:rPr>
              <a:t>8</a:t>
            </a:r>
            <a:r>
              <a:rPr lang="en" sz="1100">
                <a:solidFill>
                  <a:schemeClr val="dk1"/>
                </a:solidFill>
              </a:rPr>
              <a:t> (2 X 2 X 2)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4" name="Google Shape;74;p16" title="Screenshot 2026-04-17 13083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22200" y="1738913"/>
            <a:ext cx="3816500" cy="1665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Order of Operations (PEMDAS)</a:t>
            </a:r>
            <a:endParaRPr/>
          </a:p>
        </p:txBody>
      </p:sp>
      <p:sp>
        <p:nvSpPr>
          <p:cNvPr id="80" name="Google Shape;80;p17"/>
          <p:cNvSpPr txBox="1"/>
          <p:nvPr>
            <p:ph idx="1" type="body"/>
          </p:nvPr>
        </p:nvSpPr>
        <p:spPr>
          <a:xfrm>
            <a:off x="311700" y="1152475"/>
            <a:ext cx="4458000" cy="328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Python follows standard mathematical rules: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" sz="1100">
                <a:solidFill>
                  <a:schemeClr val="dk1"/>
                </a:solidFill>
              </a:rPr>
              <a:t>P</a:t>
            </a:r>
            <a:r>
              <a:rPr lang="en" sz="1100">
                <a:solidFill>
                  <a:schemeClr val="dk1"/>
                </a:solidFill>
              </a:rPr>
              <a:t>arentheses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()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" sz="1100">
                <a:solidFill>
                  <a:schemeClr val="dk1"/>
                </a:solidFill>
              </a:rPr>
              <a:t>E</a:t>
            </a:r>
            <a:r>
              <a:rPr lang="en" sz="1100">
                <a:solidFill>
                  <a:schemeClr val="dk1"/>
                </a:solidFill>
              </a:rPr>
              <a:t>xponents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**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" sz="1100">
                <a:solidFill>
                  <a:schemeClr val="dk1"/>
                </a:solidFill>
              </a:rPr>
              <a:t>M</a:t>
            </a:r>
            <a:r>
              <a:rPr lang="en" sz="1100">
                <a:solidFill>
                  <a:schemeClr val="dk1"/>
                </a:solidFill>
              </a:rPr>
              <a:t>ultiplication/ </a:t>
            </a:r>
            <a:r>
              <a:rPr b="1" lang="en" sz="1100">
                <a:solidFill>
                  <a:schemeClr val="dk1"/>
                </a:solidFill>
              </a:rPr>
              <a:t>D</a:t>
            </a:r>
            <a:r>
              <a:rPr lang="en" sz="1100">
                <a:solidFill>
                  <a:schemeClr val="dk1"/>
                </a:solidFill>
              </a:rPr>
              <a:t>ivision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* / // %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" sz="1100">
                <a:solidFill>
                  <a:schemeClr val="dk1"/>
                </a:solidFill>
              </a:rPr>
              <a:t>A</a:t>
            </a:r>
            <a:r>
              <a:rPr lang="en" sz="1100">
                <a:solidFill>
                  <a:schemeClr val="dk1"/>
                </a:solidFill>
              </a:rPr>
              <a:t>ddition/ </a:t>
            </a:r>
            <a:r>
              <a:rPr b="1" lang="en" sz="1100">
                <a:solidFill>
                  <a:schemeClr val="dk1"/>
                </a:solidFill>
              </a:rPr>
              <a:t>S</a:t>
            </a:r>
            <a:r>
              <a:rPr lang="en" sz="1100">
                <a:solidFill>
                  <a:schemeClr val="dk1"/>
                </a:solidFill>
              </a:rPr>
              <a:t>ubtraction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+ -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Example:</a:t>
            </a:r>
            <a:r>
              <a:rPr lang="en" sz="1100">
                <a:solidFill>
                  <a:schemeClr val="dk1"/>
                </a:solidFill>
              </a:rPr>
              <a:t>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(2 + 3) * 4</a:t>
            </a:r>
            <a:r>
              <a:rPr lang="en" sz="1100">
                <a:solidFill>
                  <a:schemeClr val="dk1"/>
                </a:solidFill>
              </a:rPr>
              <a:t> results in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20</a:t>
            </a:r>
            <a:r>
              <a:rPr lang="en" sz="1100">
                <a:solidFill>
                  <a:schemeClr val="dk1"/>
                </a:solidFill>
              </a:rPr>
              <a:t>, whereas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2 + 3 * 4</a:t>
            </a:r>
            <a:r>
              <a:rPr lang="en" sz="1100">
                <a:solidFill>
                  <a:schemeClr val="dk1"/>
                </a:solidFill>
              </a:rPr>
              <a:t> results in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14</a:t>
            </a:r>
            <a:r>
              <a:rPr lang="en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1" name="Google Shape;81;p17" title="Screenshot 2026-04-17 13095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15900" y="1152475"/>
            <a:ext cx="3749600" cy="123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17" title="Screenshot 2026-04-17 13101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15900" y="2571750"/>
            <a:ext cx="3742240" cy="123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b="1" lang="en" sz="2500"/>
              <a:t>String Concatenation</a:t>
            </a:r>
            <a:endParaRPr sz="2500"/>
          </a:p>
        </p:txBody>
      </p:sp>
      <p:sp>
        <p:nvSpPr>
          <p:cNvPr id="88" name="Google Shape;88;p18"/>
          <p:cNvSpPr txBox="1"/>
          <p:nvPr>
            <p:ph idx="1" type="body"/>
          </p:nvPr>
        </p:nvSpPr>
        <p:spPr>
          <a:xfrm>
            <a:off x="311700" y="1094775"/>
            <a:ext cx="6946800" cy="38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b="1" lang="en" sz="1400">
                <a:solidFill>
                  <a:schemeClr val="dk1"/>
                </a:solidFill>
              </a:rPr>
              <a:t>Definition:</a:t>
            </a:r>
            <a:r>
              <a:rPr lang="en" sz="1400">
                <a:solidFill>
                  <a:schemeClr val="dk1"/>
                </a:solidFill>
              </a:rPr>
              <a:t> Using the plus operator (</a:t>
            </a:r>
            <a:r>
              <a:rPr lang="en" sz="14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+</a:t>
            </a:r>
            <a:r>
              <a:rPr lang="en" sz="1400">
                <a:solidFill>
                  <a:schemeClr val="dk1"/>
                </a:solidFill>
              </a:rPr>
              <a:t>) to join two or more strings together.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b="1"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275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</p:txBody>
      </p:sp>
      <p:pic>
        <p:nvPicPr>
          <p:cNvPr id="89" name="Google Shape;89;p18" title="Screenshot 2026-04-17 13172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6025" y="3656225"/>
            <a:ext cx="8613924" cy="1305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8" title="Screenshot 2026-04-17 13165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6025" y="3275221"/>
            <a:ext cx="221932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8"/>
          <p:cNvSpPr txBox="1"/>
          <p:nvPr/>
        </p:nvSpPr>
        <p:spPr>
          <a:xfrm>
            <a:off x="376025" y="2847325"/>
            <a:ext cx="5973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Critical Rule:</a:t>
            </a:r>
            <a:r>
              <a:rPr lang="en">
                <a:solidFill>
                  <a:schemeClr val="dk1"/>
                </a:solidFill>
              </a:rPr>
              <a:t> You cannot "add" a number to a string directly.</a:t>
            </a:r>
            <a:endParaRPr>
              <a:solidFill>
                <a:schemeClr val="dk2"/>
              </a:solidFill>
            </a:endParaRPr>
          </a:p>
        </p:txBody>
      </p:sp>
      <p:pic>
        <p:nvPicPr>
          <p:cNvPr id="92" name="Google Shape;92;p18" title="Screenshot 2026-04-17 135023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76025" y="1566225"/>
            <a:ext cx="4171950" cy="1190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Overloading the Multiplier</a:t>
            </a:r>
            <a:endParaRPr/>
          </a:p>
        </p:txBody>
      </p:sp>
      <p:sp>
        <p:nvSpPr>
          <p:cNvPr id="98" name="Google Shape;98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String Repetition:</a:t>
            </a:r>
            <a:r>
              <a:rPr lang="en" sz="1100">
                <a:solidFill>
                  <a:schemeClr val="dk1"/>
                </a:solidFill>
              </a:rPr>
              <a:t> In Python, you can use the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*</a:t>
            </a:r>
            <a:r>
              <a:rPr lang="en" sz="1100">
                <a:solidFill>
                  <a:schemeClr val="dk1"/>
                </a:solidFill>
              </a:rPr>
              <a:t> operator with a string and an integer to repeat text.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Use Case:</a:t>
            </a:r>
            <a:r>
              <a:rPr lang="en" sz="1100">
                <a:solidFill>
                  <a:schemeClr val="dk1"/>
                </a:solidFill>
              </a:rPr>
              <a:t> Creating visual dividers in console output (e.g.,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print("-" * 20)</a:t>
            </a:r>
            <a:r>
              <a:rPr lang="en" sz="1100">
                <a:solidFill>
                  <a:schemeClr val="dk1"/>
                </a:solidFill>
              </a:rPr>
              <a:t>).</a:t>
            </a:r>
            <a:endParaRPr sz="1100">
              <a:solidFill>
                <a:schemeClr val="dk1"/>
              </a:solidFill>
            </a:endParaRPr>
          </a:p>
        </p:txBody>
      </p:sp>
      <p:pic>
        <p:nvPicPr>
          <p:cNvPr id="99" name="Google Shape;99;p19" title="Screenshot 2026-04-17 13224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6030" y="2035205"/>
            <a:ext cx="6962275" cy="1466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Common Pitfalls &amp; Tips</a:t>
            </a:r>
            <a:endParaRPr/>
          </a:p>
        </p:txBody>
      </p:sp>
      <p:sp>
        <p:nvSpPr>
          <p:cNvPr id="105" name="Google Shape;105;p20"/>
          <p:cNvSpPr txBox="1"/>
          <p:nvPr>
            <p:ph idx="1" type="body"/>
          </p:nvPr>
        </p:nvSpPr>
        <p:spPr>
          <a:xfrm>
            <a:off x="311700" y="1152475"/>
            <a:ext cx="8520600" cy="380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The Space Issue:</a:t>
            </a:r>
            <a:r>
              <a:rPr lang="en" sz="1100">
                <a:solidFill>
                  <a:schemeClr val="dk1"/>
                </a:solidFill>
              </a:rPr>
              <a:t> Concatenation doesn't add spaces automatically. You must include them (e.g., </a:t>
            </a:r>
            <a:r>
              <a:rPr lang="en" sz="1100">
                <a:solidFill>
                  <a:srgbClr val="188038"/>
                </a:solidFill>
              </a:rPr>
              <a:t>"Hello" + " " + "User"</a:t>
            </a:r>
            <a:r>
              <a:rPr lang="en" sz="1100">
                <a:solidFill>
                  <a:schemeClr val="dk1"/>
                </a:solidFill>
              </a:rPr>
              <a:t>).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Type Errors:</a:t>
            </a:r>
            <a:r>
              <a:rPr lang="en" sz="1100">
                <a:solidFill>
                  <a:schemeClr val="dk1"/>
                </a:solidFill>
              </a:rPr>
              <a:t> Remember to use </a:t>
            </a:r>
            <a:r>
              <a:rPr lang="en" sz="1100">
                <a:solidFill>
                  <a:srgbClr val="188038"/>
                </a:solidFill>
              </a:rPr>
              <a:t>str()</a:t>
            </a:r>
            <a:r>
              <a:rPr lang="en" sz="1100">
                <a:solidFill>
                  <a:schemeClr val="dk1"/>
                </a:solidFill>
              </a:rPr>
              <a:t> when mixing numbers into your strings.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Floating Point Precision:</a:t>
            </a:r>
            <a:r>
              <a:rPr lang="en" sz="1100">
                <a:solidFill>
                  <a:schemeClr val="dk1"/>
                </a:solidFill>
              </a:rPr>
              <a:t> Sometimes math like </a:t>
            </a:r>
            <a:r>
              <a:rPr lang="en" sz="1100">
                <a:solidFill>
                  <a:srgbClr val="188038"/>
                </a:solidFill>
              </a:rPr>
              <a:t>0.1 + 0.2</a:t>
            </a:r>
            <a:r>
              <a:rPr lang="en" sz="1100">
                <a:solidFill>
                  <a:schemeClr val="dk1"/>
                </a:solidFill>
              </a:rPr>
              <a:t> results in </a:t>
            </a:r>
            <a:r>
              <a:rPr lang="en" sz="1100">
                <a:solidFill>
                  <a:srgbClr val="188038"/>
                </a:solidFill>
              </a:rPr>
              <a:t>0.30000000000000004</a:t>
            </a:r>
            <a:r>
              <a:rPr lang="en" sz="1100">
                <a:solidFill>
                  <a:schemeClr val="dk1"/>
                </a:solidFill>
              </a:rPr>
              <a:t> due to how computers store decimals!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6" name="Google Shape;106;p20" title="Screenshot 2026-04-17 13565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9350" y="1490425"/>
            <a:ext cx="5092525" cy="1594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20" title="Screenshot 2026-04-17 13573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9338" y="3404175"/>
            <a:ext cx="5495925" cy="68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Interactive Practice</a:t>
            </a:r>
            <a:endParaRPr/>
          </a:p>
        </p:txBody>
      </p:sp>
      <p:sp>
        <p:nvSpPr>
          <p:cNvPr id="113" name="Google Shape;113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100">
                <a:solidFill>
                  <a:schemeClr val="dk1"/>
                </a:solidFill>
              </a:rPr>
              <a:t>What are the results of these expressions?</a:t>
            </a:r>
            <a:endParaRPr i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10 // 4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7 % 2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"Go " * 2 + "Team!"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10 + 2 * 5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/>
              <a:t>Putting It All Together (Example)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Project Preview – The Personal Finance Tracker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Step 1: Capture the Identity (Input)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Ask the user for their name and store it as a </a:t>
            </a:r>
            <a:r>
              <a:rPr b="1" lang="en" sz="1100">
                <a:solidFill>
                  <a:schemeClr val="dk1"/>
                </a:solidFill>
              </a:rPr>
              <a:t>String</a:t>
            </a:r>
            <a:r>
              <a:rPr lang="en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Step 2: Gather the Data (Casting)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Collect numeric values and convert them from Strings to </a:t>
            </a:r>
            <a:r>
              <a:rPr b="1" lang="en" sz="1100">
                <a:solidFill>
                  <a:schemeClr val="dk1"/>
                </a:solidFill>
              </a:rPr>
              <a:t>Integers</a:t>
            </a:r>
            <a:r>
              <a:rPr lang="en" sz="1100">
                <a:solidFill>
                  <a:schemeClr val="dk1"/>
                </a:solidFill>
              </a:rPr>
              <a:t> or </a:t>
            </a:r>
            <a:r>
              <a:rPr b="1" lang="en" sz="1100">
                <a:solidFill>
                  <a:schemeClr val="dk1"/>
                </a:solidFill>
              </a:rPr>
              <a:t>Floats</a:t>
            </a:r>
            <a:r>
              <a:rPr lang="en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Step 3: Perform the Calculation (Logic)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Use </a:t>
            </a:r>
            <a:r>
              <a:rPr b="1" lang="en" sz="1100">
                <a:solidFill>
                  <a:schemeClr val="dk1"/>
                </a:solidFill>
              </a:rPr>
              <a:t>Arithmetic Operators</a:t>
            </a:r>
            <a:r>
              <a:rPr lang="en" sz="1100">
                <a:solidFill>
                  <a:schemeClr val="dk1"/>
                </a:solidFill>
              </a:rPr>
              <a:t> to find the balance and a </a:t>
            </a:r>
            <a:r>
              <a:rPr b="1" lang="en" sz="1100">
                <a:solidFill>
                  <a:schemeClr val="dk1"/>
                </a:solidFill>
              </a:rPr>
              <a:t>Boolean</a:t>
            </a:r>
            <a:r>
              <a:rPr lang="en" sz="1100">
                <a:solidFill>
                  <a:schemeClr val="dk1"/>
                </a:solidFill>
              </a:rPr>
              <a:t> to check status.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Step 4: Report the Findings (Formatted Output)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Combine text and variables using </a:t>
            </a:r>
            <a:r>
              <a:rPr b="1" lang="en" sz="1100">
                <a:solidFill>
                  <a:schemeClr val="dk1"/>
                </a:solidFill>
              </a:rPr>
              <a:t>Concatenation</a:t>
            </a:r>
            <a:r>
              <a:rPr lang="en" sz="1100">
                <a:solidFill>
                  <a:schemeClr val="dk1"/>
                </a:solidFill>
              </a:rPr>
              <a:t> and type conversion.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