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D65EE3-9BE6-493C-9996-7439DCB2FFFE}">
  <a:tblStyle styleId="{FCD65EE3-9BE6-493C-9996-7439DCB2FF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25b998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25b998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25b998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25b998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25b9986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25b9986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25b9986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25b9986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025b9986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025b9986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25b9986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025b9986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025b998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025b998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String Methods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String Methods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What are Methods?</a:t>
            </a:r>
            <a:r>
              <a:rPr lang="en" sz="1100">
                <a:solidFill>
                  <a:schemeClr val="dk1"/>
                </a:solidFill>
              </a:rPr>
              <a:t> Functions that "belong" to an object. In Python, everything is an object, including strings.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string_variable.method_name(arguments)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Immutability Rule:</a:t>
            </a:r>
            <a:r>
              <a:rPr lang="en" sz="1100">
                <a:solidFill>
                  <a:schemeClr val="dk1"/>
                </a:solidFill>
              </a:rPr>
              <a:t> Methods </a:t>
            </a:r>
            <a:r>
              <a:rPr b="1" lang="en" sz="1100">
                <a:solidFill>
                  <a:schemeClr val="dk1"/>
                </a:solidFill>
              </a:rPr>
              <a:t>never</a:t>
            </a:r>
            <a:r>
              <a:rPr lang="en" sz="1100">
                <a:solidFill>
                  <a:schemeClr val="dk1"/>
                </a:solidFill>
              </a:rPr>
              <a:t> modify the original string. They always return a </a:t>
            </a:r>
            <a:r>
              <a:rPr i="1" lang="en" sz="1100">
                <a:solidFill>
                  <a:schemeClr val="dk1"/>
                </a:solidFill>
              </a:rPr>
              <a:t>new</a:t>
            </a:r>
            <a:r>
              <a:rPr lang="en" sz="1100">
                <a:solidFill>
                  <a:schemeClr val="dk1"/>
                </a:solidFill>
              </a:rPr>
              <a:t> string with the changes applied.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Modification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3642900" cy="37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These methods are essential for normalizing data (e.g., checking "Yes" vs "yes").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.upper()</a:t>
            </a:r>
            <a:r>
              <a:rPr b="1" lang="en" sz="1100">
                <a:solidFill>
                  <a:schemeClr val="dk1"/>
                </a:solidFill>
              </a:rPr>
              <a:t> /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.lower()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Converts all characters to uppercase or lowercase.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.capitalize()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Capitalizes only the first character of the string.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.title()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Capitalizes the first character of every word.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.swapcase()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Flips lowercase to upper and vice versa.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 title="Screenshot 2026-04-20 0838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950" y="1747849"/>
            <a:ext cx="4924125" cy="14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Searching, Inspection, Length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6861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.find(sub)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Returns the index of the first occurrence of a substring (returns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lang="en" sz="1100">
                <a:solidFill>
                  <a:schemeClr val="dk1"/>
                </a:solidFill>
              </a:rPr>
              <a:t> if not found).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.count(sub)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Counts how many times a substring appears.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.startswith(prefix)</a:t>
            </a:r>
            <a:r>
              <a:rPr b="1" lang="en" sz="1100">
                <a:solidFill>
                  <a:schemeClr val="dk1"/>
                </a:solidFill>
              </a:rPr>
              <a:t> /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.endswith(suffix)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Returns a Boolean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/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). Very useful for file extensions or URL checking.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Returns the length of a string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4-20 0844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849" y="1739813"/>
            <a:ext cx="4920450" cy="16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and Padding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7250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Essential for preparing user input or formatting console output.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.strip()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Removes leading and trailing whitespace (including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\t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Also available as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.lstrip()</a:t>
            </a:r>
            <a:r>
              <a:rPr lang="en" sz="1100">
                <a:solidFill>
                  <a:schemeClr val="dk1"/>
                </a:solidFill>
              </a:rPr>
              <a:t> (left)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.rstrip()</a:t>
            </a:r>
            <a:r>
              <a:rPr lang="en" sz="1100">
                <a:solidFill>
                  <a:schemeClr val="dk1"/>
                </a:solidFill>
              </a:rPr>
              <a:t> (right).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.replace(old, new)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Swaps all occurrences of a substring with another.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.zfill(width)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Adds zeros to the beginning of a string until it reaches a specific length (great for ID numbers).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.center(width, char)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Centers the string within a padding of specified characters.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6-04-20 0846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325" y="1061900"/>
            <a:ext cx="34480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Screenshot 2026-04-20 0847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6325" y="2049900"/>
            <a:ext cx="35052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4-20 0848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6325" y="3018850"/>
            <a:ext cx="2066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creenshot 2026-04-20 0849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6325" y="4073525"/>
            <a:ext cx="3168065" cy="8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and Joining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672700" cy="3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most powerful methods for converting between strings and lists.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</a:rPr>
              <a:t>.split(separator)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Breaks a string into a </a:t>
            </a:r>
            <a:r>
              <a:rPr b="1" lang="en" sz="1100">
                <a:solidFill>
                  <a:schemeClr val="dk1"/>
                </a:solidFill>
              </a:rPr>
              <a:t>list</a:t>
            </a:r>
            <a:r>
              <a:rPr lang="en" sz="1100">
                <a:solidFill>
                  <a:schemeClr val="dk1"/>
                </a:solidFill>
              </a:rPr>
              <a:t> based on the separator.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</a:rPr>
              <a:t>.join(iterable)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The inverse of split. It joins elements of a list into one string using the string as a connector.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4-20 0839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500" y="1848225"/>
            <a:ext cx="42576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6-04-20 0840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450" y="3263025"/>
            <a:ext cx="4444499" cy="854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"Is" Methods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6030900" cy="4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Used to validate the type of data contained within a string.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9" name="Google Shape;99;p19"/>
          <p:cNvGraphicFramePr/>
          <p:nvPr/>
        </p:nvGraphicFramePr>
        <p:xfrm>
          <a:off x="311700" y="161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{FCD65EE3-9BE6-493C-9996-7439DCB2FFFE}</a:tableStyleId>
              </a:tblPr>
              <a:tblGrid>
                <a:gridCol w="1174325"/>
                <a:gridCol w="4324900"/>
              </a:tblGrid>
              <a:tr h="38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Method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Returns True if…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.isalpha()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 characters are letters.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.isdigit()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 characters are numbers.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.isalnum()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String is a mix of letters and numbers (no symbols).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.isspace()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String contains only whitespace.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0" name="Google Shape;100;p19" title="Screenshot 2026-04-20 0828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766525"/>
            <a:ext cx="4052410" cy="124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Best Practices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Method Chaining:</a:t>
            </a:r>
            <a:r>
              <a:rPr lang="en" sz="1100">
                <a:solidFill>
                  <a:schemeClr val="dk1"/>
                </a:solidFill>
              </a:rPr>
              <a:t> You can perform multiple operations in one line: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clean_name = user_input.strip().title()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Performance: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.join()</a:t>
            </a:r>
            <a:r>
              <a:rPr lang="en" sz="1100">
                <a:solidFill>
                  <a:schemeClr val="dk1"/>
                </a:solidFill>
              </a:rPr>
              <a:t> is significantly faster than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100">
                <a:solidFill>
                  <a:schemeClr val="dk1"/>
                </a:solidFill>
              </a:rPr>
              <a:t> in a loop when building large strings.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Validation:</a:t>
            </a:r>
            <a:r>
              <a:rPr lang="en" sz="1100">
                <a:solidFill>
                  <a:schemeClr val="dk1"/>
                </a:solidFill>
              </a:rPr>
              <a:t> Always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.lower()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.upper()</a:t>
            </a:r>
            <a:r>
              <a:rPr lang="en" sz="1100">
                <a:solidFill>
                  <a:schemeClr val="dk1"/>
                </a:solidFill>
              </a:rPr>
              <a:t> when comparing strings to make your code case-insensitive.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