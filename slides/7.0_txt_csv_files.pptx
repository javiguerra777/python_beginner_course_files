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82b02acf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82b02ac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82b02acf7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82b02acf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82b02acf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82b02acf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82b02acf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82b02acf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82b02acf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82b02acf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82b02acf7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d82b02acf7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82b02acf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d82b02acf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82b02acf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82b02acf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82b02acf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d82b02acf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82b02acf7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82b02acf7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Reading and Writing to .txt and .csv files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to File Handling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4260300" cy="402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"Persistence" Concept:</a:t>
            </a:r>
            <a:r>
              <a:rPr lang="en" sz="1100">
                <a:solidFill>
                  <a:schemeClr val="dk1"/>
                </a:solidFill>
              </a:rPr>
              <a:t> Variables disappear when a program stops; files allow data to live on your hard drive.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open()</a:t>
            </a:r>
            <a:r>
              <a:rPr b="1" lang="en" sz="1100">
                <a:solidFill>
                  <a:schemeClr val="dk1"/>
                </a:solidFill>
              </a:rPr>
              <a:t> Function:</a:t>
            </a:r>
            <a:r>
              <a:rPr lang="en" sz="1100">
                <a:solidFill>
                  <a:schemeClr val="dk1"/>
                </a:solidFill>
              </a:rPr>
              <a:t> The gateway to any file.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Context Manager (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b="1" lang="en" sz="1100">
                <a:solidFill>
                  <a:schemeClr val="dk1"/>
                </a:solidFill>
              </a:rPr>
              <a:t>):</a:t>
            </a:r>
            <a:r>
              <a:rPr lang="en" sz="1100">
                <a:solidFill>
                  <a:schemeClr val="dk1"/>
                </a:solidFill>
              </a:rPr>
              <a:t> The modern standard. It ensures a file is properly closed even if your code crashes.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 open("file.txt", "r") as file: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Modes:</a:t>
            </a:r>
            <a:r>
              <a:rPr lang="en" sz="1100">
                <a:solidFill>
                  <a:schemeClr val="dk1"/>
                </a:solidFill>
              </a:rPr>
              <a:t> *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'r'</a:t>
            </a:r>
            <a:r>
              <a:rPr lang="en" sz="1100">
                <a:solidFill>
                  <a:schemeClr val="dk1"/>
                </a:solidFill>
              </a:rPr>
              <a:t>: Read (default)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'w'</a:t>
            </a:r>
            <a:r>
              <a:rPr lang="en" sz="1100">
                <a:solidFill>
                  <a:schemeClr val="dk1"/>
                </a:solidFill>
              </a:rPr>
              <a:t>: Write (overwrites existing content)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'a'</a:t>
            </a:r>
            <a:r>
              <a:rPr lang="en" sz="1100">
                <a:solidFill>
                  <a:schemeClr val="dk1"/>
                </a:solidFill>
              </a:rPr>
              <a:t>: Append (adds to the end)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1" name="Google Shape;61;p14" title="Screenshot 2026-04-20 1549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8325" y="1206200"/>
            <a:ext cx="3943350" cy="300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Plain Text (.txt)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3859500" cy="3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Reading:</a:t>
            </a:r>
            <a:r>
              <a:rPr lang="en" sz="1100">
                <a:solidFill>
                  <a:schemeClr val="dk1"/>
                </a:solidFill>
              </a:rPr>
              <a:t> 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.read()</a:t>
            </a:r>
            <a:r>
              <a:rPr lang="en" sz="1100">
                <a:solidFill>
                  <a:schemeClr val="dk1"/>
                </a:solidFill>
              </a:rPr>
              <a:t>: Gets the whole file as one giant string.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.readlines()</a:t>
            </a:r>
            <a:r>
              <a:rPr lang="en" sz="1100">
                <a:solidFill>
                  <a:schemeClr val="dk1"/>
                </a:solidFill>
              </a:rPr>
              <a:t>: Turns each line into an item in a list.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Writing:</a:t>
            </a:r>
            <a:r>
              <a:rPr lang="en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.write()</a:t>
            </a:r>
            <a:r>
              <a:rPr lang="en" sz="1100">
                <a:solidFill>
                  <a:schemeClr val="dk1"/>
                </a:solidFill>
              </a:rPr>
              <a:t>: Sends a string directly into the file.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Use Case:</a:t>
            </a:r>
            <a:r>
              <a:rPr lang="en" sz="1100">
                <a:solidFill>
                  <a:schemeClr val="dk1"/>
                </a:solidFill>
              </a:rPr>
              <a:t> Log files, simple notes, or configuration settings.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 title="Screenshot 2026-04-20 1555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00573" y="1152473"/>
            <a:ext cx="4752050" cy="2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Screenshot 2026-04-20 15562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0575" y="3355023"/>
            <a:ext cx="3762375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Structured Data (.csv)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What is a CSV?:</a:t>
            </a:r>
            <a:r>
              <a:rPr lang="en" sz="1100">
                <a:solidFill>
                  <a:schemeClr val="dk1"/>
                </a:solidFill>
              </a:rPr>
              <a:t> "Comma Separated Values"—essentially a simplified spreadsheet.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csv</a:t>
            </a:r>
            <a:r>
              <a:rPr b="1" lang="en" sz="1100">
                <a:solidFill>
                  <a:schemeClr val="dk1"/>
                </a:solidFill>
              </a:rPr>
              <a:t> Module:</a:t>
            </a:r>
            <a:r>
              <a:rPr lang="en" sz="1100">
                <a:solidFill>
                  <a:schemeClr val="dk1"/>
                </a:solidFill>
              </a:rPr>
              <a:t> Python’s built-in tool for parsing these files.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Reader vs. DictReader: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csv.reader</a:t>
            </a:r>
            <a:r>
              <a:rPr lang="en" sz="1100">
                <a:solidFill>
                  <a:schemeClr val="dk1"/>
                </a:solidFill>
              </a:rPr>
              <a:t>: Treats rows as lists.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csv.DictReader</a:t>
            </a:r>
            <a:r>
              <a:rPr lang="en" sz="1100">
                <a:solidFill>
                  <a:schemeClr val="dk1"/>
                </a:solidFill>
              </a:rPr>
              <a:t>: Treats rows as </a:t>
            </a:r>
            <a:r>
              <a:rPr b="1" lang="en" sz="1100">
                <a:solidFill>
                  <a:schemeClr val="dk1"/>
                </a:solidFill>
              </a:rPr>
              <a:t>Dictionaries</a:t>
            </a:r>
            <a:r>
              <a:rPr lang="en" sz="1100">
                <a:solidFill>
                  <a:schemeClr val="dk1"/>
                </a:solidFill>
              </a:rPr>
              <a:t> (using the header as keys).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 title="Screenshot 2026-04-20 1602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2882938"/>
            <a:ext cx="4886325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11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Structured Data (.csv) Continued…</a:t>
            </a:r>
            <a:endParaRPr/>
          </a:p>
        </p:txBody>
      </p:sp>
      <p:pic>
        <p:nvPicPr>
          <p:cNvPr id="82" name="Google Shape;82;p17" title="Screenshot 2026-04-20 1603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85900"/>
            <a:ext cx="5667375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Screenshot 2026-04-20 16033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194100"/>
            <a:ext cx="6743700" cy="179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113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 with Structured Data (.csv) Continued…</a:t>
            </a:r>
            <a:endParaRPr/>
          </a:p>
        </p:txBody>
      </p:sp>
      <p:pic>
        <p:nvPicPr>
          <p:cNvPr id="89" name="Google Shape;89;p18" title="Screenshot 2026-04-20 16054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744525"/>
            <a:ext cx="56388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Screenshot 2026-04-20 16055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584450"/>
            <a:ext cx="1558150" cy="140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5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to .csv Files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What is a CSV?:</a:t>
            </a:r>
            <a:r>
              <a:rPr lang="en" sz="1100">
                <a:solidFill>
                  <a:schemeClr val="dk1"/>
                </a:solidFill>
              </a:rPr>
              <a:t> "Comma Separated Values"—essentially a simplified spreadsheet.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csv</a:t>
            </a:r>
            <a:r>
              <a:rPr b="1" lang="en" sz="1100">
                <a:solidFill>
                  <a:schemeClr val="dk1"/>
                </a:solidFill>
              </a:rPr>
              <a:t> Module:</a:t>
            </a:r>
            <a:r>
              <a:rPr lang="en" sz="1100">
                <a:solidFill>
                  <a:schemeClr val="dk1"/>
                </a:solidFill>
              </a:rPr>
              <a:t> Python’s built-in tool for parsing these files.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Writer, DictWrier, writerows, writerow, writeheader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csv.writer</a:t>
            </a:r>
            <a:r>
              <a:rPr lang="en" sz="1100">
                <a:solidFill>
                  <a:schemeClr val="dk1"/>
                </a:solidFill>
              </a:rPr>
              <a:t>: Writes data to .csv file, use when data is structured as rows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csv.DictWriter</a:t>
            </a:r>
            <a:r>
              <a:rPr lang="en" sz="1100">
                <a:solidFill>
                  <a:schemeClr val="dk1"/>
                </a:solidFill>
              </a:rPr>
              <a:t>: Writes data to .csv file, use when data is a list of dictionaries with matching keys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writer.writerows</a:t>
            </a:r>
            <a:r>
              <a:rPr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chemeClr val="dk1"/>
                </a:solidFill>
              </a:rPr>
              <a:t>Writes all rows at once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writer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.writerow</a:t>
            </a:r>
            <a:r>
              <a:rPr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chemeClr val="dk1"/>
                </a:solidFill>
              </a:rPr>
              <a:t>Writes a single row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writer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.writeheader</a:t>
            </a:r>
            <a:r>
              <a:rPr lang="en" sz="1100">
                <a:solidFill>
                  <a:schemeClr val="dk1"/>
                </a:solidFill>
              </a:rPr>
              <a:t>: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chemeClr val="dk1"/>
                </a:solidFill>
              </a:rPr>
              <a:t>Writes the first row (headers), useful when working with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csv.DictWriter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5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to .csv Files Continued…</a:t>
            </a:r>
            <a:endParaRPr/>
          </a:p>
        </p:txBody>
      </p:sp>
      <p:pic>
        <p:nvPicPr>
          <p:cNvPr id="102" name="Google Shape;102;p20" title="Screenshot 2026-04-20 1615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600" y="1024950"/>
            <a:ext cx="5886450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0" title="Screenshot 2026-04-20 16162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06675" y="1024950"/>
            <a:ext cx="2767625" cy="120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5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Writing to .csv Files Continued…</a:t>
            </a:r>
            <a:endParaRPr/>
          </a:p>
        </p:txBody>
      </p:sp>
      <p:pic>
        <p:nvPicPr>
          <p:cNvPr id="109" name="Google Shape;109;p21" title="Screenshot 2026-04-20 16203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3575"/>
            <a:ext cx="5245917" cy="3813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Screenshot 2026-04-20 1620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2331" y="1083575"/>
            <a:ext cx="2533800" cy="164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Pitfalls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"Overwrite" Trap:</a:t>
            </a:r>
            <a:r>
              <a:rPr lang="en" sz="1100">
                <a:solidFill>
                  <a:schemeClr val="dk1"/>
                </a:solidFill>
              </a:rPr>
              <a:t> Opening a file in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'w'</a:t>
            </a:r>
            <a:r>
              <a:rPr lang="en" sz="1100">
                <a:solidFill>
                  <a:schemeClr val="dk1"/>
                </a:solidFill>
              </a:rPr>
              <a:t> mode deletes everything inside it immediately.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'a'</a:t>
            </a:r>
            <a:r>
              <a:rPr lang="en" sz="1100">
                <a:solidFill>
                  <a:schemeClr val="dk1"/>
                </a:solidFill>
              </a:rPr>
              <a:t> if you want to keep old data.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The Newline Issue:</a:t>
            </a:r>
            <a:r>
              <a:rPr lang="en" sz="1100">
                <a:solidFill>
                  <a:schemeClr val="dk1"/>
                </a:solidFill>
              </a:rPr>
              <a:t> When writing CSVs,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newline=''</a:t>
            </a:r>
            <a:r>
              <a:rPr lang="en" sz="1100">
                <a:solidFill>
                  <a:schemeClr val="dk1"/>
                </a:solidFill>
              </a:rPr>
              <a:t> in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open()</a:t>
            </a:r>
            <a:r>
              <a:rPr lang="en" sz="1100">
                <a:solidFill>
                  <a:schemeClr val="dk1"/>
                </a:solidFill>
              </a:rPr>
              <a:t> function to prevent blank lines between rows on Windows.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File Paths:</a:t>
            </a:r>
            <a:r>
              <a:rPr lang="en" sz="1100">
                <a:solidFill>
                  <a:schemeClr val="dk1"/>
                </a:solidFill>
              </a:rPr>
              <a:t> Ensure the file is in the same folder as your script, or provide the full file path.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Putting It All Together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The Goal:</a:t>
            </a:r>
            <a:r>
              <a:rPr lang="en" sz="1100">
                <a:solidFill>
                  <a:schemeClr val="dk1"/>
                </a:solidFill>
              </a:rPr>
              <a:t> Read a list of names from a text file and save them into a structured CSV file with a "Status" column.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Steps to Complete the Example: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Extract Data:</a:t>
            </a:r>
            <a:r>
              <a:rPr lang="en" sz="1100">
                <a:solidFill>
                  <a:schemeClr val="dk1"/>
                </a:solidFill>
              </a:rPr>
              <a:t> Use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with</a:t>
            </a:r>
            <a:r>
              <a:rPr lang="en" sz="1100">
                <a:solidFill>
                  <a:schemeClr val="dk1"/>
                </a:solidFill>
              </a:rPr>
              <a:t> block to open your source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.txt</a:t>
            </a:r>
            <a:r>
              <a:rPr lang="en" sz="1100">
                <a:solidFill>
                  <a:schemeClr val="dk1"/>
                </a:solidFill>
              </a:rPr>
              <a:t> file.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.strip()</a:t>
            </a:r>
            <a:r>
              <a:rPr lang="en" sz="1100">
                <a:solidFill>
                  <a:schemeClr val="dk1"/>
                </a:solidFill>
              </a:rPr>
              <a:t> to clean up the hidden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\n</a:t>
            </a:r>
            <a:r>
              <a:rPr lang="en" sz="1100">
                <a:solidFill>
                  <a:schemeClr val="dk1"/>
                </a:solidFill>
              </a:rPr>
              <a:t> (newline) characters.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Import Tools:</a:t>
            </a:r>
            <a:r>
              <a:rPr lang="en" sz="1100">
                <a:solidFill>
                  <a:schemeClr val="dk1"/>
                </a:solidFill>
              </a:rPr>
              <a:t> Remember to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csv</a:t>
            </a:r>
            <a:r>
              <a:rPr lang="en" sz="1100">
                <a:solidFill>
                  <a:schemeClr val="dk1"/>
                </a:solidFill>
              </a:rPr>
              <a:t> at the very top; it's not a global keyword like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</a:t>
            </a:r>
            <a:r>
              <a:rPr lang="en" sz="1100">
                <a:solidFill>
                  <a:schemeClr val="dk1"/>
                </a:solidFill>
              </a:rPr>
              <a:t>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Prepare the Destination:</a:t>
            </a:r>
            <a:r>
              <a:rPr lang="en" sz="1100">
                <a:solidFill>
                  <a:schemeClr val="dk1"/>
                </a:solidFill>
              </a:rPr>
              <a:t> Open 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.csv</a:t>
            </a:r>
            <a:r>
              <a:rPr lang="en" sz="1100">
                <a:solidFill>
                  <a:schemeClr val="dk1"/>
                </a:solidFill>
              </a:rPr>
              <a:t> file in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'w'</a:t>
            </a:r>
            <a:r>
              <a:rPr lang="en" sz="1100">
                <a:solidFill>
                  <a:schemeClr val="dk1"/>
                </a:solidFill>
              </a:rPr>
              <a:t> (write) mode. Define your </a:t>
            </a:r>
            <a:r>
              <a:rPr b="1" lang="en" sz="1100">
                <a:solidFill>
                  <a:schemeClr val="dk1"/>
                </a:solidFill>
              </a:rPr>
              <a:t>header</a:t>
            </a:r>
            <a:r>
              <a:rPr lang="en" sz="1100">
                <a:solidFill>
                  <a:schemeClr val="dk1"/>
                </a:solidFill>
              </a:rPr>
              <a:t> row first so the columns are labeled.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The Loop &amp; Write:</a:t>
            </a:r>
            <a:r>
              <a:rPr lang="en" sz="1100">
                <a:solidFill>
                  <a:schemeClr val="dk1"/>
                </a:solidFill>
              </a:rPr>
              <a:t> Use a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</a:t>
            </a:r>
            <a:r>
              <a:rPr lang="en" sz="1100">
                <a:solidFill>
                  <a:schemeClr val="dk1"/>
                </a:solidFill>
              </a:rPr>
              <a:t> loop to iterate through your list of names. For every name, 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writer.writerow()</a:t>
            </a:r>
            <a:r>
              <a:rPr lang="en" sz="1100">
                <a:solidFill>
                  <a:schemeClr val="dk1"/>
                </a:solidFill>
              </a:rPr>
              <a:t> to pass a list representing one row.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" sz="1100">
                <a:solidFill>
                  <a:schemeClr val="dk1"/>
                </a:solidFill>
              </a:rPr>
              <a:t>Verify the Output:</a:t>
            </a:r>
            <a:r>
              <a:rPr lang="en" sz="1100">
                <a:solidFill>
                  <a:schemeClr val="dk1"/>
                </a:solidFill>
              </a:rPr>
              <a:t> Open your folder. You should see a new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roster.csv</a:t>
            </a:r>
            <a:r>
              <a:rPr lang="en" sz="1100">
                <a:solidFill>
                  <a:schemeClr val="dk1"/>
                </a:solidFill>
              </a:rPr>
              <a:t> file that can be opened in Excel or Google Sheets.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