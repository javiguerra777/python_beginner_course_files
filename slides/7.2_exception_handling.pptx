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82b9f3a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82b9f3a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82b9f3a1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82b9f3a1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82b9f3a1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82b9f3a1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2b9f3a1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2b9f3a1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82b9f3a1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82b9f3a1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Exception Handling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Exception?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Definition:</a:t>
            </a:r>
            <a:r>
              <a:rPr lang="en" sz="1100">
                <a:solidFill>
                  <a:schemeClr val="dk1"/>
                </a:solidFill>
              </a:rPr>
              <a:t> An "Exception" is an error that occurs during the execution of a program (Runtime).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Crash vs. Control:</a:t>
            </a:r>
            <a:r>
              <a:rPr lang="en" sz="1100">
                <a:solidFill>
                  <a:schemeClr val="dk1"/>
                </a:solidFill>
              </a:rPr>
              <a:t> Without handling, an error triggers a "Traceback" and stops the program immediately. With handling, the program can "catch" the error and keep running.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Types: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ValueError</a:t>
            </a:r>
            <a:r>
              <a:rPr lang="en" sz="1100">
                <a:solidFill>
                  <a:schemeClr val="dk1"/>
                </a:solidFill>
              </a:rPr>
              <a:t>: Wrong type of data (e.g., trying to turn "abc" into an integer).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ZeroDivisionError</a:t>
            </a:r>
            <a:r>
              <a:rPr lang="en" sz="1100">
                <a:solidFill>
                  <a:schemeClr val="dk1"/>
                </a:solidFill>
              </a:rPr>
              <a:t>: Dividing by zero.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FileNotFoundError</a:t>
            </a:r>
            <a:r>
              <a:rPr lang="en" sz="1100">
                <a:solidFill>
                  <a:schemeClr val="dk1"/>
                </a:solidFill>
              </a:rPr>
              <a:t>: Trying to open a file that doesn't exist.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20 1635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113" y="2995513"/>
            <a:ext cx="214312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Screenshot 2026-04-20 1635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125" y="3816275"/>
            <a:ext cx="7556800" cy="12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try/except</a:t>
            </a:r>
            <a:r>
              <a:rPr lang="en" sz="2500"/>
              <a:t> Syntax</a:t>
            </a:r>
            <a:endParaRPr sz="25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30850"/>
            <a:ext cx="3534900" cy="37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1" lang="en" sz="1100">
                <a:solidFill>
                  <a:schemeClr val="dk1"/>
                </a:solidFill>
              </a:rPr>
              <a:t> Block:</a:t>
            </a:r>
            <a:r>
              <a:rPr lang="en" sz="1100">
                <a:solidFill>
                  <a:schemeClr val="dk1"/>
                </a:solidFill>
              </a:rPr>
              <a:t> You place the code that </a:t>
            </a:r>
            <a:r>
              <a:rPr i="1" lang="en" sz="1100">
                <a:solidFill>
                  <a:schemeClr val="dk1"/>
                </a:solidFill>
              </a:rPr>
              <a:t>might</a:t>
            </a:r>
            <a:r>
              <a:rPr lang="en" sz="1100">
                <a:solidFill>
                  <a:schemeClr val="dk1"/>
                </a:solidFill>
              </a:rPr>
              <a:t> fail here. Python "tries" to run 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b="1" lang="en" sz="1100">
                <a:solidFill>
                  <a:schemeClr val="dk1"/>
                </a:solidFill>
              </a:rPr>
              <a:t> Block:</a:t>
            </a:r>
            <a:r>
              <a:rPr lang="en" sz="1100">
                <a:solidFill>
                  <a:schemeClr val="dk1"/>
                </a:solidFill>
              </a:rPr>
              <a:t> This code runs </a:t>
            </a:r>
            <a:r>
              <a:rPr b="1" lang="en" sz="1100">
                <a:solidFill>
                  <a:schemeClr val="dk1"/>
                </a:solidFill>
              </a:rPr>
              <a:t>only if</a:t>
            </a:r>
            <a:r>
              <a:rPr lang="en" sz="1100">
                <a:solidFill>
                  <a:schemeClr val="dk1"/>
                </a:solidFill>
              </a:rPr>
              <a:t> an error occurs in the try block. It is your safety net.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Specific vs. General:</a:t>
            </a:r>
            <a:r>
              <a:rPr lang="en" sz="1100">
                <a:solidFill>
                  <a:schemeClr val="dk1"/>
                </a:solidFill>
              </a:rPr>
              <a:t> It is best practice to catch specific errors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 ValueError</a:t>
            </a:r>
            <a:r>
              <a:rPr lang="en" sz="1100">
                <a:solidFill>
                  <a:schemeClr val="dk1"/>
                </a:solidFill>
              </a:rPr>
              <a:t>) rather than all errors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 Exception</a:t>
            </a:r>
            <a:r>
              <a:rPr lang="en" sz="1100">
                <a:solidFill>
                  <a:schemeClr val="dk1"/>
                </a:solidFill>
              </a:rPr>
              <a:t>), so you don't accidentally hide bugs you didn't expect.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6-04-20 1642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9000" y="1061925"/>
            <a:ext cx="4992600" cy="2068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Screenshot 2026-04-20 1643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9000" y="3239522"/>
            <a:ext cx="3499481" cy="1708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Expanding the Block (</a:t>
            </a:r>
            <a:r>
              <a:rPr lang="en" sz="2500">
                <a:solidFill>
                  <a:srgbClr val="188038"/>
                </a:solidFill>
              </a:rPr>
              <a:t>else</a:t>
            </a:r>
            <a:r>
              <a:rPr lang="en" sz="2500"/>
              <a:t> and </a:t>
            </a:r>
            <a:r>
              <a:rPr lang="en" sz="2500">
                <a:solidFill>
                  <a:srgbClr val="188038"/>
                </a:solidFill>
              </a:rPr>
              <a:t>finally</a:t>
            </a:r>
            <a:r>
              <a:rPr lang="en" sz="2500"/>
              <a:t>)</a:t>
            </a:r>
            <a:endParaRPr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 </a:t>
            </a:r>
            <a:r>
              <a:rPr b="1" lang="en" sz="1100">
                <a:solidFill>
                  <a:schemeClr val="dk1"/>
                </a:solidFill>
              </a:rPr>
              <a:t>Block:</a:t>
            </a:r>
            <a:r>
              <a:rPr lang="en" sz="1100">
                <a:solidFill>
                  <a:schemeClr val="dk1"/>
                </a:solidFill>
              </a:rPr>
              <a:t> Runs only if </a:t>
            </a:r>
            <a:r>
              <a:rPr b="1" lang="en" sz="1100">
                <a:solidFill>
                  <a:schemeClr val="dk1"/>
                </a:solidFill>
              </a:rPr>
              <a:t>no</a:t>
            </a:r>
            <a:r>
              <a:rPr lang="en" sz="1100">
                <a:solidFill>
                  <a:schemeClr val="dk1"/>
                </a:solidFill>
              </a:rPr>
              <a:t> errors occurred in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 sz="1100">
                <a:solidFill>
                  <a:schemeClr val="dk1"/>
                </a:solidFill>
              </a:rPr>
              <a:t> block. Useful for code that should only happen if the previous step was successful.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b="1" lang="en" sz="1100">
                <a:solidFill>
                  <a:schemeClr val="dk1"/>
                </a:solidFill>
              </a:rPr>
              <a:t> Block:</a:t>
            </a:r>
            <a:r>
              <a:rPr lang="en" sz="1100">
                <a:solidFill>
                  <a:schemeClr val="dk1"/>
                </a:solidFill>
              </a:rPr>
              <a:t> Runs </a:t>
            </a:r>
            <a:r>
              <a:rPr b="1" lang="en" sz="1100">
                <a:solidFill>
                  <a:schemeClr val="dk1"/>
                </a:solidFill>
              </a:rPr>
              <a:t>no matter what</a:t>
            </a:r>
            <a:r>
              <a:rPr lang="en" sz="1100">
                <a:solidFill>
                  <a:schemeClr val="dk1"/>
                </a:solidFill>
              </a:rPr>
              <a:t>, whether an error happened or not. Perfect for cleanup tasks (like closing a file or database).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6-04-20 1645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41650"/>
            <a:ext cx="6893200" cy="27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Scenarios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User Input:</a:t>
            </a:r>
            <a:r>
              <a:rPr lang="en" sz="1100">
                <a:solidFill>
                  <a:schemeClr val="dk1"/>
                </a:solidFill>
              </a:rPr>
              <a:t> Validating that a user entered a number instead of text.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Web Requests:</a:t>
            </a:r>
            <a:r>
              <a:rPr lang="en" sz="1100">
                <a:solidFill>
                  <a:schemeClr val="dk1"/>
                </a:solidFill>
              </a:rPr>
              <a:t> Handling cases where a website is down or the internet disconnects.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File Operations:</a:t>
            </a:r>
            <a:r>
              <a:rPr lang="en" sz="1100">
                <a:solidFill>
                  <a:schemeClr val="dk1"/>
                </a:solidFill>
              </a:rPr>
              <a:t> Gracefully telling a user a file is missing instead of the program disappearing.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Calculations:</a:t>
            </a:r>
            <a:r>
              <a:rPr lang="en" sz="1100">
                <a:solidFill>
                  <a:schemeClr val="dk1"/>
                </a:solidFill>
              </a:rPr>
              <a:t> Preventing "Division by Zero" errors in financial apps.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Create a robust "Division Calculator" that handles bad user input and prevents the program from crashing.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Steps to Complete the 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Identify Hazards:</a:t>
            </a:r>
            <a:r>
              <a:rPr lang="en" sz="1100">
                <a:solidFill>
                  <a:schemeClr val="dk1"/>
                </a:solidFill>
              </a:rPr>
              <a:t> Recognize that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input()</a:t>
            </a:r>
            <a:r>
              <a:rPr lang="en" sz="1100">
                <a:solidFill>
                  <a:schemeClr val="dk1"/>
                </a:solidFill>
              </a:rPr>
              <a:t> and division are "dangerous" operations that depend on user behavior.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Wrap in Try:</a:t>
            </a:r>
            <a:r>
              <a:rPr lang="en" sz="1100">
                <a:solidFill>
                  <a:schemeClr val="dk1"/>
                </a:solidFill>
              </a:rPr>
              <a:t> Place the dangerous logic inside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 sz="1100">
                <a:solidFill>
                  <a:schemeClr val="dk1"/>
                </a:solidFill>
              </a:rPr>
              <a:t> block.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Target Specific Errors:</a:t>
            </a:r>
            <a:r>
              <a:rPr lang="en" sz="1100">
                <a:solidFill>
                  <a:schemeClr val="dk1"/>
                </a:solidFill>
              </a:rPr>
              <a:t> Add an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 ValueError</a:t>
            </a:r>
            <a:r>
              <a:rPr lang="en" sz="1100">
                <a:solidFill>
                  <a:schemeClr val="dk1"/>
                </a:solidFill>
              </a:rPr>
              <a:t> to catch text-to-number issues and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 ZeroDivisionError</a:t>
            </a:r>
            <a:r>
              <a:rPr lang="en" sz="1100">
                <a:solidFill>
                  <a:schemeClr val="dk1"/>
                </a:solidFill>
              </a:rPr>
              <a:t> for math issues.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Reward Success:</a:t>
            </a:r>
            <a:r>
              <a:rPr lang="en" sz="1100">
                <a:solidFill>
                  <a:schemeClr val="dk1"/>
                </a:solidFill>
              </a:rPr>
              <a:t>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100">
                <a:solidFill>
                  <a:schemeClr val="dk1"/>
                </a:solidFill>
              </a:rPr>
              <a:t> block to display the result. This keeps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 sz="1100">
                <a:solidFill>
                  <a:schemeClr val="dk1"/>
                </a:solidFill>
              </a:rPr>
              <a:t> block focused only on the code that might break.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Clean Up: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" sz="1100">
                <a:solidFill>
                  <a:schemeClr val="dk1"/>
                </a:solidFill>
              </a:rPr>
              <a:t> to print a closing message, ensuring the user knows the process has ended, regardless of the outcome.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