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0371d9b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0371d9b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0371d9b0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0371d9b0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0371d9b0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0371d9b0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0371d9b0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0371d9b0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0371d9b0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0371d9b0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371d9b0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0371d9b0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built in modules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Introduction to Python Modules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What is a Module?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 file containing Python definitions and statements (functions, variables, classes).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Why use Modules?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Code reusability and organization.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Access to complex logic without writing it from scratch.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"Standard Library":</a:t>
            </a:r>
            <a:r>
              <a:rPr lang="en" sz="1100">
                <a:solidFill>
                  <a:schemeClr val="dk1"/>
                </a:solidFill>
              </a:rPr>
              <a:t> Python comes with a "batteries included" philosophy, meaning many powerful modules are pre-installed.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 Variations for Importing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4220100" cy="3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Basic Import: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math</a:t>
            </a:r>
            <a:r>
              <a:rPr lang="en" sz="1100">
                <a:solidFill>
                  <a:schemeClr val="dk1"/>
                </a:solidFill>
              </a:rPr>
              <a:t> (Access via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math.pi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Specific Import: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random import randint</a:t>
            </a:r>
            <a:r>
              <a:rPr lang="en" sz="1100">
                <a:solidFill>
                  <a:schemeClr val="dk1"/>
                </a:solidFill>
              </a:rPr>
              <a:t> (Access via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randint()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Aliasing: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datetime as dt</a:t>
            </a:r>
            <a:r>
              <a:rPr lang="en" sz="1100">
                <a:solidFill>
                  <a:schemeClr val="dk1"/>
                </a:solidFill>
              </a:rPr>
              <a:t> (Access via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dt.datetime.now()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Universal (Discouraged):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math import *</a:t>
            </a:r>
            <a:r>
              <a:rPr lang="en" sz="1100">
                <a:solidFill>
                  <a:schemeClr val="dk1"/>
                </a:solidFill>
              </a:rPr>
              <a:t> (Can lead to naming conflicts).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 title="Screenshot 2026-04-20 2025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075" y="1297063"/>
            <a:ext cx="4191000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math</a:t>
            </a:r>
            <a:r>
              <a:rPr lang="en" sz="2500"/>
              <a:t> Module</a:t>
            </a:r>
            <a:endParaRPr sz="25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4260300" cy="40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r>
              <a:rPr lang="en" sz="1100">
                <a:solidFill>
                  <a:schemeClr val="dk1"/>
                </a:solidFill>
              </a:rPr>
              <a:t> Provides mathematical constants and functions for floating-point math.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Functions: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math.sqrt(x)</a:t>
            </a:r>
            <a:r>
              <a:rPr lang="en" sz="1100">
                <a:solidFill>
                  <a:schemeClr val="dk1"/>
                </a:solidFill>
              </a:rPr>
              <a:t>: Returns the square root of </a:t>
            </a:r>
            <a:r>
              <a:rPr b="1" lang="en" sz="1100">
                <a:solidFill>
                  <a:schemeClr val="dk1"/>
                </a:solidFill>
              </a:rPr>
              <a:t>x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math.ceil(x)</a:t>
            </a:r>
            <a:r>
              <a:rPr lang="en" sz="1100">
                <a:solidFill>
                  <a:schemeClr val="dk1"/>
                </a:solidFill>
              </a:rPr>
              <a:t> / </a:t>
            </a:r>
            <a:r>
              <a:rPr lang="en" sz="1100">
                <a:solidFill>
                  <a:srgbClr val="188038"/>
                </a:solidFill>
              </a:rPr>
              <a:t>math.floor(x)</a:t>
            </a:r>
            <a:r>
              <a:rPr lang="en" sz="1100">
                <a:solidFill>
                  <a:schemeClr val="dk1"/>
                </a:solidFill>
              </a:rPr>
              <a:t>: Rounding up or down to the nearest integer.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math.pow(x, y)</a:t>
            </a:r>
            <a:r>
              <a:rPr lang="en" sz="1100">
                <a:solidFill>
                  <a:schemeClr val="dk1"/>
                </a:solidFill>
              </a:rPr>
              <a:t>: Raises </a:t>
            </a:r>
            <a:r>
              <a:rPr b="1" lang="en" sz="1100">
                <a:solidFill>
                  <a:schemeClr val="dk1"/>
                </a:solidFill>
              </a:rPr>
              <a:t>x</a:t>
            </a:r>
            <a:r>
              <a:rPr lang="en" sz="1100">
                <a:solidFill>
                  <a:schemeClr val="dk1"/>
                </a:solidFill>
              </a:rPr>
              <a:t> to the power of </a:t>
            </a:r>
            <a:r>
              <a:rPr b="1" lang="en" sz="1100">
                <a:solidFill>
                  <a:schemeClr val="dk1"/>
                </a:solidFill>
              </a:rPr>
              <a:t>y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Constants: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math.pi</a:t>
            </a:r>
            <a:r>
              <a:rPr lang="en" sz="1100">
                <a:solidFill>
                  <a:schemeClr val="dk1"/>
                </a:solidFill>
              </a:rPr>
              <a:t> (</a:t>
            </a:r>
            <a:r>
              <a:rPr b="1" lang="en" sz="1100">
                <a:solidFill>
                  <a:schemeClr val="dk1"/>
                </a:solidFill>
              </a:rPr>
              <a:t>pi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math.e</a:t>
            </a:r>
            <a:r>
              <a:rPr lang="en" sz="1100">
                <a:solidFill>
                  <a:schemeClr val="dk1"/>
                </a:solidFill>
              </a:rPr>
              <a:t> (</a:t>
            </a:r>
            <a:r>
              <a:rPr b="1" lang="en" sz="1100">
                <a:solidFill>
                  <a:schemeClr val="dk1"/>
                </a:solidFill>
              </a:rPr>
              <a:t>e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6-04-20 2028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7888" y="1771650"/>
            <a:ext cx="389572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random</a:t>
            </a:r>
            <a:r>
              <a:rPr lang="en" sz="2500"/>
              <a:t> Module</a:t>
            </a:r>
            <a:endParaRPr sz="25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r>
              <a:rPr lang="en" sz="1100">
                <a:solidFill>
                  <a:schemeClr val="dk1"/>
                </a:solidFill>
              </a:rPr>
              <a:t> Used for generating pseudo-random numbers and making random selections.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Common Methods: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random.random()</a:t>
            </a:r>
            <a:r>
              <a:rPr lang="en" sz="1100">
                <a:solidFill>
                  <a:schemeClr val="dk1"/>
                </a:solidFill>
              </a:rPr>
              <a:t>: Returns a float between </a:t>
            </a:r>
            <a:r>
              <a:rPr b="1" lang="en" sz="1100">
                <a:solidFill>
                  <a:schemeClr val="dk1"/>
                </a:solidFill>
              </a:rPr>
              <a:t>0.0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1.0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random.randint(a, b)</a:t>
            </a:r>
            <a:r>
              <a:rPr lang="en" sz="1100">
                <a:solidFill>
                  <a:schemeClr val="dk1"/>
                </a:solidFill>
              </a:rPr>
              <a:t>: Returns a random integer between </a:t>
            </a:r>
            <a:r>
              <a:rPr b="1" lang="en" sz="1100">
                <a:solidFill>
                  <a:schemeClr val="dk1"/>
                </a:solidFill>
              </a:rPr>
              <a:t>a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b</a:t>
            </a:r>
            <a:r>
              <a:rPr lang="en" sz="1100">
                <a:solidFill>
                  <a:schemeClr val="dk1"/>
                </a:solidFill>
              </a:rPr>
              <a:t> (inclusive).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random.choice(sequence)</a:t>
            </a:r>
            <a:r>
              <a:rPr lang="en" sz="1100">
                <a:solidFill>
                  <a:schemeClr val="dk1"/>
                </a:solidFill>
              </a:rPr>
              <a:t>: Picks a random element from a list or tuple.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random.shuffle(list)</a:t>
            </a:r>
            <a:r>
              <a:rPr lang="en" sz="1100">
                <a:solidFill>
                  <a:schemeClr val="dk1"/>
                </a:solidFill>
              </a:rPr>
              <a:t>: Reorders a list in place.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 title="Screenshot 2026-04-20 2031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450" y="2517750"/>
            <a:ext cx="7808924" cy="16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datetime</a:t>
            </a:r>
            <a:r>
              <a:rPr lang="en" sz="2500"/>
              <a:t> Module</a:t>
            </a:r>
            <a:endParaRPr sz="250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r>
              <a:rPr lang="en" sz="1100">
                <a:solidFill>
                  <a:schemeClr val="dk1"/>
                </a:solidFill>
              </a:rPr>
              <a:t> Supplies classes for manipulating dates and times.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Core Components: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datetime.datetime.now()</a:t>
            </a:r>
            <a:r>
              <a:rPr lang="en" sz="1100">
                <a:solidFill>
                  <a:schemeClr val="dk1"/>
                </a:solidFill>
              </a:rPr>
              <a:t>: Gets the current local date and time.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datetime.date</a:t>
            </a:r>
            <a:r>
              <a:rPr lang="en" sz="1100">
                <a:solidFill>
                  <a:schemeClr val="dk1"/>
                </a:solidFill>
              </a:rPr>
              <a:t>: Handles Year, Month, and Day.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Formatting: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strftime()</a:t>
            </a:r>
            <a:r>
              <a:rPr lang="en" sz="1100">
                <a:solidFill>
                  <a:schemeClr val="dk1"/>
                </a:solidFill>
              </a:rPr>
              <a:t>: Converts a date object into a readable string (e.g., "2026-04-20").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 title="Screenshot 2026-04-20 2036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275" y="3119575"/>
            <a:ext cx="4300225" cy="16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Create a "Lucky Circle" script that calculates the area of a circle with a random radius and timestamps the result.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Steps to Accomplish: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Import the tools:</a:t>
            </a:r>
            <a:r>
              <a:rPr lang="en" sz="1100">
                <a:solidFill>
                  <a:schemeClr val="dk1"/>
                </a:solidFill>
              </a:rPr>
              <a:t> Bring in </a:t>
            </a:r>
            <a:r>
              <a:rPr lang="en" sz="1100">
                <a:solidFill>
                  <a:srgbClr val="188038"/>
                </a:solidFill>
              </a:rPr>
              <a:t>math</a:t>
            </a:r>
            <a:r>
              <a:rPr lang="en" sz="1100">
                <a:solidFill>
                  <a:schemeClr val="dk1"/>
                </a:solidFill>
              </a:rPr>
              <a:t> for </a:t>
            </a:r>
            <a:r>
              <a:rPr b="1" lang="en" sz="1100">
                <a:solidFill>
                  <a:schemeClr val="dk1"/>
                </a:solidFill>
              </a:rPr>
              <a:t>pi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</a:rPr>
              <a:t>random</a:t>
            </a:r>
            <a:r>
              <a:rPr lang="en" sz="1100">
                <a:solidFill>
                  <a:schemeClr val="dk1"/>
                </a:solidFill>
              </a:rPr>
              <a:t> for the radius, and </a:t>
            </a:r>
            <a:r>
              <a:rPr lang="en" sz="1100">
                <a:solidFill>
                  <a:srgbClr val="188038"/>
                </a:solidFill>
              </a:rPr>
              <a:t>datetime</a:t>
            </a:r>
            <a:r>
              <a:rPr lang="en" sz="1100">
                <a:solidFill>
                  <a:schemeClr val="dk1"/>
                </a:solidFill>
              </a:rPr>
              <a:t> for the log.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Generate data: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lang="en" sz="1100">
                <a:solidFill>
                  <a:srgbClr val="188038"/>
                </a:solidFill>
              </a:rPr>
              <a:t>random.randint()</a:t>
            </a:r>
            <a:r>
              <a:rPr lang="en" sz="1100">
                <a:solidFill>
                  <a:schemeClr val="dk1"/>
                </a:solidFill>
              </a:rPr>
              <a:t> to pick a radius between 1 and 10.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Perform calculation: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lang="en" sz="1100">
                <a:solidFill>
                  <a:srgbClr val="188038"/>
                </a:solidFill>
              </a:rPr>
              <a:t>math.pi</a:t>
            </a:r>
            <a:r>
              <a:rPr lang="en" sz="1100">
                <a:solidFill>
                  <a:schemeClr val="dk1"/>
                </a:solidFill>
              </a:rPr>
              <a:t> and the exponent operator (or </a:t>
            </a:r>
            <a:r>
              <a:rPr lang="en" sz="1100">
                <a:solidFill>
                  <a:srgbClr val="188038"/>
                </a:solidFill>
              </a:rPr>
              <a:t>math.pow</a:t>
            </a:r>
            <a:r>
              <a:rPr lang="en" sz="1100">
                <a:solidFill>
                  <a:schemeClr val="dk1"/>
                </a:solidFill>
              </a:rPr>
              <a:t>) to find the area (Area = </a:t>
            </a:r>
            <a:r>
              <a:rPr b="1" lang="en" sz="1100">
                <a:solidFill>
                  <a:schemeClr val="dk1"/>
                </a:solidFill>
              </a:rPr>
              <a:t>pi </a:t>
            </a:r>
            <a:r>
              <a:rPr lang="en" sz="1100">
                <a:solidFill>
                  <a:schemeClr val="dk1"/>
                </a:solidFill>
              </a:rPr>
              <a:t>X r^2).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Get current time: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lang="en" sz="1100">
                <a:solidFill>
                  <a:srgbClr val="188038"/>
                </a:solidFill>
              </a:rPr>
              <a:t>datetime.now()</a:t>
            </a:r>
            <a:r>
              <a:rPr lang="en" sz="1100">
                <a:solidFill>
                  <a:schemeClr val="dk1"/>
                </a:solidFill>
              </a:rPr>
              <a:t> to mark when the calculation happened.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Output results:</a:t>
            </a:r>
            <a:r>
              <a:rPr lang="en" sz="1100">
                <a:solidFill>
                  <a:schemeClr val="dk1"/>
                </a:solidFill>
              </a:rPr>
              <a:t> Print the radius, the calculated area, and the timestamp.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