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Mon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italic.fntdata"/><Relationship Id="rId14" Type="http://schemas.openxmlformats.org/officeDocument/2006/relationships/font" Target="fonts/RobotoMono-bold.fntdata"/><Relationship Id="rId16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024c147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024c147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024c1479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024c1479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024c1479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024c1479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024c1479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024c1479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024c1479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024c1479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024c1479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024c1479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Strings: slicing, modification, formatting, escaping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String Slicing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3883800" cy="36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Concept:</a:t>
            </a:r>
            <a:r>
              <a:rPr lang="en" sz="1100">
                <a:solidFill>
                  <a:schemeClr val="dk1"/>
                </a:solidFill>
              </a:rPr>
              <a:t> Extracting a "substring" from a larger string using indices.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Syntax: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string[start:end:step]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Start:</a:t>
            </a:r>
            <a:r>
              <a:rPr lang="en" sz="1100">
                <a:solidFill>
                  <a:schemeClr val="dk1"/>
                </a:solidFill>
              </a:rPr>
              <a:t> Starting index (inclusive).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End:</a:t>
            </a:r>
            <a:r>
              <a:rPr lang="en" sz="1100">
                <a:solidFill>
                  <a:schemeClr val="dk1"/>
                </a:solidFill>
              </a:rPr>
              <a:t> Ending index (exclusive).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Step:</a:t>
            </a:r>
            <a:r>
              <a:rPr lang="en" sz="1100">
                <a:solidFill>
                  <a:schemeClr val="dk1"/>
                </a:solidFill>
              </a:rPr>
              <a:t> The "stride" or jump between characters.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Examples: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s[0:5]</a:t>
            </a:r>
            <a:r>
              <a:rPr lang="en" sz="1100">
                <a:solidFill>
                  <a:schemeClr val="dk1"/>
                </a:solidFill>
              </a:rPr>
              <a:t> – Get first 5 characters.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s[5:]</a:t>
            </a:r>
            <a:r>
              <a:rPr lang="en" sz="1100">
                <a:solidFill>
                  <a:schemeClr val="dk1"/>
                </a:solidFill>
              </a:rPr>
              <a:t> – Get everything from index 5 to the end.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s[-3:]</a:t>
            </a:r>
            <a:r>
              <a:rPr lang="en" sz="1100">
                <a:solidFill>
                  <a:schemeClr val="dk1"/>
                </a:solidFill>
              </a:rPr>
              <a:t> – Get the last three characters.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Screenshot 2026-04-20 0756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0775" y="1997075"/>
            <a:ext cx="4613825" cy="114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Slicing &amp; Immutability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032600" cy="3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The "Step" Parameter: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s[::2]</a:t>
            </a:r>
            <a:r>
              <a:rPr lang="en" sz="1100">
                <a:solidFill>
                  <a:schemeClr val="dk1"/>
                </a:solidFill>
              </a:rPr>
              <a:t> – Every second character.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s[::-1]</a:t>
            </a:r>
            <a:r>
              <a:rPr lang="en" sz="1100">
                <a:solidFill>
                  <a:schemeClr val="dk1"/>
                </a:solidFill>
              </a:rPr>
              <a:t> – </a:t>
            </a:r>
            <a:r>
              <a:rPr b="1" lang="en" sz="1100">
                <a:solidFill>
                  <a:schemeClr val="dk1"/>
                </a:solidFill>
              </a:rPr>
              <a:t>Pro-tip:</a:t>
            </a:r>
            <a:r>
              <a:rPr lang="en" sz="1100">
                <a:solidFill>
                  <a:schemeClr val="dk1"/>
                </a:solidFill>
              </a:rPr>
              <a:t> The easiest way to reverse a string in Python.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Crucial Note:</a:t>
            </a:r>
            <a:r>
              <a:rPr lang="en" sz="1100">
                <a:solidFill>
                  <a:schemeClr val="dk1"/>
                </a:solidFill>
              </a:rPr>
              <a:t> Strings are </a:t>
            </a:r>
            <a:r>
              <a:rPr b="1" lang="en" sz="1100">
                <a:solidFill>
                  <a:schemeClr val="dk1"/>
                </a:solidFill>
              </a:rPr>
              <a:t>immutable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Slicing does not change the original string; it creates a new one.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</a:rPr>
              <a:t>Correction:</a:t>
            </a:r>
            <a:r>
              <a:rPr lang="en" sz="1100">
                <a:solidFill>
                  <a:schemeClr val="dk1"/>
                </a:solidFill>
              </a:rPr>
              <a:t> You cannot do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s[0] = 'A'</a:t>
            </a:r>
            <a:r>
              <a:rPr lang="en" sz="1100">
                <a:solidFill>
                  <a:schemeClr val="dk1"/>
                </a:solidFill>
              </a:rPr>
              <a:t>. You must slice and concatenate to "change" a string.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Screenshot 2026-04-20 0812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17725"/>
            <a:ext cx="3169875" cy="100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Screenshot 2026-04-20 0812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264175"/>
            <a:ext cx="4032600" cy="74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Screenshot 2026-04-20 0813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4140725"/>
            <a:ext cx="4032601" cy="875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 title="Screenshot 2026-04-20 08171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2172425"/>
            <a:ext cx="3622134" cy="93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Modifying Strings (Built-in Methods)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414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Case Adjustments: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.upper()</a:t>
            </a:r>
            <a:r>
              <a:rPr lang="en" sz="1100">
                <a:solidFill>
                  <a:schemeClr val="dk1"/>
                </a:solidFill>
              </a:rPr>
              <a:t> /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.lower()</a:t>
            </a:r>
            <a:r>
              <a:rPr lang="en" sz="1100">
                <a:solidFill>
                  <a:schemeClr val="dk1"/>
                </a:solidFill>
              </a:rPr>
              <a:t> – Change case entirely.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.strip()</a:t>
            </a:r>
            <a:r>
              <a:rPr lang="en" sz="1100">
                <a:solidFill>
                  <a:schemeClr val="dk1"/>
                </a:solidFill>
              </a:rPr>
              <a:t> – Removes whitespace from start and end.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Search and Replace: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.replace("old", "new")</a:t>
            </a:r>
            <a:r>
              <a:rPr lang="en" sz="1100">
                <a:solidFill>
                  <a:schemeClr val="dk1"/>
                </a:solidFill>
              </a:rPr>
              <a:t> – Replaces occurrences of a substring.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Splitting and Joining: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.split(",")</a:t>
            </a:r>
            <a:r>
              <a:rPr lang="en" sz="1100">
                <a:solidFill>
                  <a:schemeClr val="dk1"/>
                </a:solidFill>
              </a:rPr>
              <a:t> – Turns a string into a list based on a delimiter.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 ".join(list)</a:t>
            </a:r>
            <a:r>
              <a:rPr lang="en" sz="1100">
                <a:solidFill>
                  <a:schemeClr val="dk1"/>
                </a:solidFill>
              </a:rPr>
              <a:t> – Merges a list into a single string.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 title="Screenshot 2026-04-20 0757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2300" y="1017725"/>
            <a:ext cx="4025451" cy="72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Screenshot 2026-04-20 0758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2300" y="1842250"/>
            <a:ext cx="4025450" cy="787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Screenshot 2026-04-20 08000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2300" y="2731325"/>
            <a:ext cx="4025450" cy="1092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Screenshot 2026-04-20 08015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52300" y="3925350"/>
            <a:ext cx="4025450" cy="943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 Formatting (The Modern Way)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4681800" cy="37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f-Strings (Formatted String Literals):</a:t>
            </a:r>
            <a:r>
              <a:rPr lang="en" sz="1100">
                <a:solidFill>
                  <a:schemeClr val="dk1"/>
                </a:solidFill>
              </a:rPr>
              <a:t> The preferred method since Python 3.6.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Syntax: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f"Hello, {name}!"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Supports expressions: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f"Result: {2 + 2}"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.format()</a:t>
            </a:r>
            <a:r>
              <a:rPr b="1" lang="en" sz="1100">
                <a:solidFill>
                  <a:schemeClr val="dk1"/>
                </a:solidFill>
              </a:rPr>
              <a:t> Method: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"Price: {:.2f}".format(19.99)</a:t>
            </a:r>
            <a:r>
              <a:rPr lang="en" sz="1100">
                <a:solidFill>
                  <a:schemeClr val="dk1"/>
                </a:solidFill>
              </a:rPr>
              <a:t> – Useful for padding and alignment.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Legacy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%</a:t>
            </a:r>
            <a:r>
              <a:rPr b="1" lang="en" sz="1100">
                <a:solidFill>
                  <a:schemeClr val="dk1"/>
                </a:solidFill>
              </a:rPr>
              <a:t> Operator: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Avoid using in new code, but be aware of it for legacy projects.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7" title="Screenshot 2026-04-20 0803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8275" y="1152475"/>
            <a:ext cx="3928129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 title="Screenshot 2026-04-20 0806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8272" y="3368200"/>
            <a:ext cx="394281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 title="Screenshot 2026-04-20 08080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8273" y="2155375"/>
            <a:ext cx="3928125" cy="925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Escape Characters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21050"/>
            <a:ext cx="4479900" cy="3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Problem:</a:t>
            </a:r>
            <a:r>
              <a:rPr lang="en" sz="1100">
                <a:solidFill>
                  <a:schemeClr val="dk1"/>
                </a:solidFill>
              </a:rPr>
              <a:t> How do you put a quote inside a string? Or a new line?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Solution:</a:t>
            </a:r>
            <a:r>
              <a:rPr lang="en" sz="1100">
                <a:solidFill>
                  <a:schemeClr val="dk1"/>
                </a:solidFill>
              </a:rPr>
              <a:t> The backslash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\</a:t>
            </a:r>
            <a:r>
              <a:rPr lang="en" sz="1100">
                <a:solidFill>
                  <a:schemeClr val="dk1"/>
                </a:solidFill>
              </a:rPr>
              <a:t>) escape character.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Common Sequences: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\'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\"</a:t>
            </a:r>
            <a:r>
              <a:rPr lang="en" sz="1100">
                <a:solidFill>
                  <a:schemeClr val="dk1"/>
                </a:solidFill>
              </a:rPr>
              <a:t> – Single and double quotes.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\n</a:t>
            </a:r>
            <a:r>
              <a:rPr lang="en" sz="1100">
                <a:solidFill>
                  <a:schemeClr val="dk1"/>
                </a:solidFill>
              </a:rPr>
              <a:t> – New line (line break).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\t</a:t>
            </a:r>
            <a:r>
              <a:rPr lang="en" sz="1100">
                <a:solidFill>
                  <a:schemeClr val="dk1"/>
                </a:solidFill>
              </a:rPr>
              <a:t> – Horizontal tab.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\\</a:t>
            </a:r>
            <a:r>
              <a:rPr lang="en" sz="1100">
                <a:solidFill>
                  <a:schemeClr val="dk1"/>
                </a:solidFill>
              </a:rPr>
              <a:t> – Literal backslash.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Raw Strings:</a:t>
            </a:r>
            <a:r>
              <a:rPr lang="en" sz="1100">
                <a:solidFill>
                  <a:schemeClr val="dk1"/>
                </a:solidFill>
              </a:rPr>
              <a:t>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r"C:\Users\Name"</a:t>
            </a:r>
            <a:r>
              <a:rPr lang="en" sz="1100">
                <a:solidFill>
                  <a:schemeClr val="dk1"/>
                </a:solidFill>
              </a:rPr>
              <a:t> to ignore escape sequences (essential for file paths and Regex).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8" title="Screenshot 2026-04-20 0810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0375" y="1510850"/>
            <a:ext cx="4047600" cy="2121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&amp; Best Practices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Efficiency:</a:t>
            </a:r>
            <a:r>
              <a:rPr lang="en" sz="1100">
                <a:solidFill>
                  <a:schemeClr val="dk1"/>
                </a:solidFill>
              </a:rPr>
              <a:t> Use f-strings for readability and speed.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Safety:</a:t>
            </a:r>
            <a:r>
              <a:rPr lang="en" sz="1100">
                <a:solidFill>
                  <a:schemeClr val="dk1"/>
                </a:solidFill>
              </a:rPr>
              <a:t> Always remember strings are immutable; reassignment is necessary.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Cleanliness:</a:t>
            </a:r>
            <a:r>
              <a:rPr lang="en" sz="1100">
                <a:solidFill>
                  <a:schemeClr val="dk1"/>
                </a:solidFill>
              </a:rPr>
              <a:t>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.strip()</a:t>
            </a:r>
            <a:r>
              <a:rPr lang="en" sz="1100">
                <a:solidFill>
                  <a:schemeClr val="dk1"/>
                </a:solidFill>
              </a:rPr>
              <a:t> when handling user input to avoid hidden space errors.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Readability:</a:t>
            </a:r>
            <a:r>
              <a:rPr lang="en" sz="1100">
                <a:solidFill>
                  <a:schemeClr val="dk1"/>
                </a:solidFill>
              </a:rPr>
              <a:t> Don't over-complicate slices. If a slice is too complex, consider a loop or a descriptive function.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