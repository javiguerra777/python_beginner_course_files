
<file path=[Content_Types].xml><?xml version="1.0" encoding="utf-8"?>
<Types xmlns="http://schemas.openxmlformats.org/package/2006/content-types">
  <Default ContentType="image/jpeg" Extension="jpg"/>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d6db75526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d6db75526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6db75526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6db75526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deefc09e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deefc09e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geeksforgeeks.org/python/history-of-python/" TargetMode="Externa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About Python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Brief History of Python</a:t>
            </a:r>
            <a:endParaRPr/>
          </a:p>
        </p:txBody>
      </p:sp>
      <p:sp>
        <p:nvSpPr>
          <p:cNvPr id="60" name="Google Shape;60;p14"/>
          <p:cNvSpPr txBox="1"/>
          <p:nvPr>
            <p:ph idx="1" type="body"/>
          </p:nvPr>
        </p:nvSpPr>
        <p:spPr>
          <a:xfrm>
            <a:off x="311700" y="1152475"/>
            <a:ext cx="5309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chemeClr val="dk1"/>
                </a:solidFill>
              </a:rPr>
              <a:t>The Origin (1989):</a:t>
            </a:r>
            <a:r>
              <a:rPr lang="en" sz="1400">
                <a:solidFill>
                  <a:schemeClr val="dk1"/>
                </a:solidFill>
              </a:rPr>
              <a:t> Created by </a:t>
            </a:r>
            <a:r>
              <a:rPr b="1" lang="en" sz="1400">
                <a:solidFill>
                  <a:schemeClr val="dk1"/>
                </a:solidFill>
              </a:rPr>
              <a:t>Guido van Rossum</a:t>
            </a:r>
            <a:r>
              <a:rPr lang="en" sz="1400">
                <a:solidFill>
                  <a:schemeClr val="dk1"/>
                </a:solidFill>
              </a:rPr>
              <a:t> at CWI in the Netherlands. It started as a "hobby programming project" to keep him occupied during the Christmas week.</a:t>
            </a:r>
            <a:endParaRPr sz="1400">
              <a:solidFill>
                <a:schemeClr val="dk1"/>
              </a:solidFill>
            </a:endParaRPr>
          </a:p>
          <a:p>
            <a:pPr indent="0" lvl="0" marL="0" rtl="0" algn="l">
              <a:spcBef>
                <a:spcPts val="1200"/>
              </a:spcBef>
              <a:spcAft>
                <a:spcPts val="0"/>
              </a:spcAft>
              <a:buClr>
                <a:schemeClr val="dk1"/>
              </a:buClr>
              <a:buSzPts val="1100"/>
              <a:buFont typeface="Arial"/>
              <a:buNone/>
            </a:pPr>
            <a:r>
              <a:rPr b="1" lang="en" sz="1400">
                <a:solidFill>
                  <a:schemeClr val="dk1"/>
                </a:solidFill>
              </a:rPr>
              <a:t>The Name:</a:t>
            </a:r>
            <a:r>
              <a:rPr lang="en" sz="1400">
                <a:solidFill>
                  <a:schemeClr val="dk1"/>
                </a:solidFill>
              </a:rPr>
              <a:t> It isn’t named after the snake! Van Rossum was a big fan of the British comedy troupe </a:t>
            </a:r>
            <a:r>
              <a:rPr b="1" lang="en" sz="1400">
                <a:solidFill>
                  <a:schemeClr val="dk1"/>
                </a:solidFill>
              </a:rPr>
              <a:t>Monty Python’s Flying Circus</a:t>
            </a:r>
            <a:r>
              <a:rPr lang="en" sz="1400">
                <a:solidFill>
                  <a:schemeClr val="dk1"/>
                </a:solidFill>
              </a:rPr>
              <a:t>.</a:t>
            </a:r>
            <a:endParaRPr sz="1400">
              <a:solidFill>
                <a:schemeClr val="dk1"/>
              </a:solidFill>
            </a:endParaRPr>
          </a:p>
          <a:p>
            <a:pPr indent="0" lvl="0" marL="0" rtl="0" algn="l">
              <a:spcBef>
                <a:spcPts val="1200"/>
              </a:spcBef>
              <a:spcAft>
                <a:spcPts val="1200"/>
              </a:spcAft>
              <a:buNone/>
            </a:pPr>
            <a:r>
              <a:rPr b="1" lang="en" sz="1400">
                <a:solidFill>
                  <a:schemeClr val="dk1"/>
                </a:solidFill>
              </a:rPr>
              <a:t>Source: </a:t>
            </a:r>
            <a:r>
              <a:rPr lang="en" sz="1400" u="sng">
                <a:solidFill>
                  <a:schemeClr val="hlink"/>
                </a:solidFill>
                <a:hlinkClick r:id="rId3"/>
              </a:rPr>
              <a:t>https://www.geeksforgeeks.org/python/history-of-python/</a:t>
            </a:r>
            <a:r>
              <a:rPr lang="en" sz="1400">
                <a:solidFill>
                  <a:schemeClr val="dk1"/>
                </a:solidFill>
              </a:rPr>
              <a:t> </a:t>
            </a:r>
            <a:endParaRPr sz="1400"/>
          </a:p>
        </p:txBody>
      </p:sp>
      <p:pic>
        <p:nvPicPr>
          <p:cNvPr descr="a blue and yellow python logo with a white dot in the middle (Provided by Tenor)" id="61" name="Google Shape;61;p14"/>
          <p:cNvPicPr preferRelativeResize="0"/>
          <p:nvPr/>
        </p:nvPicPr>
        <p:blipFill>
          <a:blip r:embed="rId4">
            <a:alphaModFix/>
          </a:blip>
          <a:stretch>
            <a:fillRect/>
          </a:stretch>
        </p:blipFill>
        <p:spPr>
          <a:xfrm>
            <a:off x="5708575" y="1017725"/>
            <a:ext cx="3218100" cy="3218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Python Use Cases</a:t>
            </a:r>
            <a:endParaRPr/>
          </a:p>
        </p:txBody>
      </p:sp>
      <p:sp>
        <p:nvSpPr>
          <p:cNvPr id="67" name="Google Shape;67;p15"/>
          <p:cNvSpPr txBox="1"/>
          <p:nvPr>
            <p:ph idx="1" type="body"/>
          </p:nvPr>
        </p:nvSpPr>
        <p:spPr>
          <a:xfrm>
            <a:off x="217925" y="1102000"/>
            <a:ext cx="5785500" cy="3856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300">
                <a:solidFill>
                  <a:schemeClr val="dk1"/>
                </a:solidFill>
              </a:rPr>
              <a:t>Python’s versatility is its greatest strength. It is a popular language for these fields:</a:t>
            </a:r>
            <a:endParaRPr sz="1300">
              <a:solidFill>
                <a:schemeClr val="dk1"/>
              </a:solidFill>
            </a:endParaRPr>
          </a:p>
          <a:p>
            <a:pPr indent="-311150" lvl="0" marL="457200" rtl="0" algn="l">
              <a:spcBef>
                <a:spcPts val="1200"/>
              </a:spcBef>
              <a:spcAft>
                <a:spcPts val="0"/>
              </a:spcAft>
              <a:buClr>
                <a:schemeClr val="dk1"/>
              </a:buClr>
              <a:buSzPts val="1300"/>
              <a:buChar char="●"/>
            </a:pPr>
            <a:r>
              <a:rPr b="1" lang="en" sz="1300">
                <a:solidFill>
                  <a:schemeClr val="dk1"/>
                </a:solidFill>
              </a:rPr>
              <a:t>Data Science &amp; Analysis:</a:t>
            </a:r>
            <a:r>
              <a:rPr lang="en" sz="1300">
                <a:solidFill>
                  <a:schemeClr val="dk1"/>
                </a:solidFill>
              </a:rPr>
              <a:t> Using libraries like </a:t>
            </a:r>
            <a:r>
              <a:rPr b="1" lang="en" sz="1300">
                <a:solidFill>
                  <a:schemeClr val="dk1"/>
                </a:solidFill>
              </a:rPr>
              <a:t>Pandas</a:t>
            </a:r>
            <a:r>
              <a:rPr lang="en" sz="1300">
                <a:solidFill>
                  <a:schemeClr val="dk1"/>
                </a:solidFill>
              </a:rPr>
              <a:t> and </a:t>
            </a:r>
            <a:r>
              <a:rPr b="1" lang="en" sz="1300">
                <a:solidFill>
                  <a:schemeClr val="dk1"/>
                </a:solidFill>
              </a:rPr>
              <a:t>NumPy</a:t>
            </a:r>
            <a:r>
              <a:rPr lang="en" sz="1300">
                <a:solidFill>
                  <a:schemeClr val="dk1"/>
                </a:solidFill>
              </a:rPr>
              <a:t> to process massive datasets and find trends.</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Artificial Intelligence (AI):</a:t>
            </a:r>
            <a:r>
              <a:rPr lang="en" sz="1300">
                <a:solidFill>
                  <a:schemeClr val="dk1"/>
                </a:solidFill>
              </a:rPr>
              <a:t> The backbone of Machine Learning and Deep Learning (via </a:t>
            </a:r>
            <a:r>
              <a:rPr b="1" lang="en" sz="1300">
                <a:solidFill>
                  <a:schemeClr val="dk1"/>
                </a:solidFill>
              </a:rPr>
              <a:t>TensorFlow</a:t>
            </a:r>
            <a:r>
              <a:rPr lang="en" sz="1300">
                <a:solidFill>
                  <a:schemeClr val="dk1"/>
                </a:solidFill>
              </a:rPr>
              <a:t> and </a:t>
            </a:r>
            <a:r>
              <a:rPr b="1" lang="en" sz="1300">
                <a:solidFill>
                  <a:schemeClr val="dk1"/>
                </a:solidFill>
              </a:rPr>
              <a:t>PyTorch</a:t>
            </a:r>
            <a:r>
              <a:rPr lang="en" sz="1300">
                <a:solidFill>
                  <a:schemeClr val="dk1"/>
                </a:solidFill>
              </a:rPr>
              <a:t>).</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Web Development:</a:t>
            </a:r>
            <a:r>
              <a:rPr lang="en" sz="1300">
                <a:solidFill>
                  <a:schemeClr val="dk1"/>
                </a:solidFill>
              </a:rPr>
              <a:t> Powering the "back-end" of major websites like Instagram, Pinterest, and Dropbox using frameworks like </a:t>
            </a:r>
            <a:r>
              <a:rPr b="1" lang="en" sz="1300">
                <a:solidFill>
                  <a:schemeClr val="dk1"/>
                </a:solidFill>
              </a:rPr>
              <a:t>Django</a:t>
            </a:r>
            <a:r>
              <a:rPr lang="en" sz="1300">
                <a:solidFill>
                  <a:schemeClr val="dk1"/>
                </a:solidFill>
              </a:rPr>
              <a:t> and </a:t>
            </a:r>
            <a:r>
              <a:rPr b="1" lang="en" sz="1300">
                <a:solidFill>
                  <a:schemeClr val="dk1"/>
                </a:solidFill>
              </a:rPr>
              <a:t>Flask</a:t>
            </a:r>
            <a:r>
              <a:rPr lang="en" sz="1300">
                <a:solidFill>
                  <a:schemeClr val="dk1"/>
                </a:solidFill>
              </a:rPr>
              <a:t>.</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Automation &amp; Scripting:</a:t>
            </a:r>
            <a:r>
              <a:rPr lang="en" sz="1300">
                <a:solidFill>
                  <a:schemeClr val="dk1"/>
                </a:solidFill>
              </a:rPr>
              <a:t> Automating repetitive tasks—like moving files, scraping data from websites, or sending batch emails.</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Scientific Computing:</a:t>
            </a:r>
            <a:r>
              <a:rPr lang="en" sz="1300">
                <a:solidFill>
                  <a:schemeClr val="dk1"/>
                </a:solidFill>
              </a:rPr>
              <a:t> Heavily used in biology, physics, and astronomy for complex simulations.</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Software Testing:</a:t>
            </a:r>
            <a:r>
              <a:rPr lang="en" sz="1300">
                <a:solidFill>
                  <a:schemeClr val="dk1"/>
                </a:solidFill>
              </a:rPr>
              <a:t> Used to write automated test scripts to ensure other software works correctly before release.</a:t>
            </a:r>
            <a:endParaRPr sz="1300"/>
          </a:p>
        </p:txBody>
      </p:sp>
      <p:pic>
        <p:nvPicPr>
          <p:cNvPr descr="Data Analysis for Business and Finance Concept (Provided by Getty Images)" id="68" name="Google Shape;68;p15"/>
          <p:cNvPicPr preferRelativeResize="0"/>
          <p:nvPr/>
        </p:nvPicPr>
        <p:blipFill>
          <a:blip r:embed="rId3">
            <a:alphaModFix/>
          </a:blip>
          <a:stretch>
            <a:fillRect/>
          </a:stretch>
        </p:blipFill>
        <p:spPr>
          <a:xfrm>
            <a:off x="6292175" y="1217425"/>
            <a:ext cx="2540129" cy="1469750"/>
          </a:xfrm>
          <a:prstGeom prst="rect">
            <a:avLst/>
          </a:prstGeom>
          <a:noFill/>
          <a:ln>
            <a:noFill/>
          </a:ln>
        </p:spPr>
      </p:pic>
      <p:pic>
        <p:nvPicPr>
          <p:cNvPr descr="a cartoon of spongebob and patrick with the word automation in the background (Provided by Tenor)" id="69" name="Google Shape;69;p15"/>
          <p:cNvPicPr preferRelativeResize="0"/>
          <p:nvPr/>
        </p:nvPicPr>
        <p:blipFill>
          <a:blip r:embed="rId4">
            <a:alphaModFix/>
          </a:blip>
          <a:stretch>
            <a:fillRect/>
          </a:stretch>
        </p:blipFill>
        <p:spPr>
          <a:xfrm>
            <a:off x="6292175" y="3048775"/>
            <a:ext cx="2540125" cy="18242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Content</a:t>
            </a:r>
            <a:endParaRPr/>
          </a:p>
        </p:txBody>
      </p:sp>
      <p:sp>
        <p:nvSpPr>
          <p:cNvPr id="75" name="Google Shape;75;p16"/>
          <p:cNvSpPr txBox="1"/>
          <p:nvPr>
            <p:ph idx="1" type="body"/>
          </p:nvPr>
        </p:nvSpPr>
        <p:spPr>
          <a:xfrm>
            <a:off x="311700" y="1152475"/>
            <a:ext cx="4674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100">
                <a:solidFill>
                  <a:schemeClr val="dk1"/>
                </a:solidFill>
              </a:rPr>
              <a:t>Phase 1: Foundations of Logic</a:t>
            </a:r>
            <a:r>
              <a:rPr lang="en" sz="1100">
                <a:solidFill>
                  <a:schemeClr val="dk1"/>
                </a:solidFill>
              </a:rPr>
              <a:t> – Explore Python’s history, set up your environment (VS Code), and master core basics like variables, data types, and </a:t>
            </a:r>
            <a:r>
              <a:rPr b="1" lang="en" sz="1100">
                <a:solidFill>
                  <a:schemeClr val="dk1"/>
                </a:solidFill>
              </a:rPr>
              <a:t>if/else</a:t>
            </a:r>
            <a:r>
              <a:rPr lang="en" sz="1100">
                <a:solidFill>
                  <a:schemeClr val="dk1"/>
                </a:solidFill>
              </a:rPr>
              <a:t> control flow.</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Phase 2: Power &amp; Efficiency</a:t>
            </a:r>
            <a:r>
              <a:rPr lang="en" sz="1100">
                <a:solidFill>
                  <a:schemeClr val="dk1"/>
                </a:solidFill>
              </a:rPr>
              <a:t> – Transition from simple scripts to dynamic programs using </a:t>
            </a:r>
            <a:r>
              <a:rPr b="1" lang="en" sz="1100">
                <a:solidFill>
                  <a:schemeClr val="dk1"/>
                </a:solidFill>
              </a:rPr>
              <a:t>Loops</a:t>
            </a:r>
            <a:r>
              <a:rPr lang="en" sz="1100">
                <a:solidFill>
                  <a:schemeClr val="dk1"/>
                </a:solidFill>
              </a:rPr>
              <a:t> (for/while), </a:t>
            </a:r>
            <a:r>
              <a:rPr b="1" lang="en" sz="1100">
                <a:solidFill>
                  <a:schemeClr val="dk1"/>
                </a:solidFill>
              </a:rPr>
              <a:t>Functions</a:t>
            </a:r>
            <a:r>
              <a:rPr lang="en" sz="1100">
                <a:solidFill>
                  <a:schemeClr val="dk1"/>
                </a:solidFill>
              </a:rPr>
              <a:t> (DRY principle), and essential </a:t>
            </a:r>
            <a:r>
              <a:rPr b="1" lang="en" sz="1100">
                <a:solidFill>
                  <a:schemeClr val="dk1"/>
                </a:solidFill>
              </a:rPr>
              <a:t>Data Structures</a:t>
            </a:r>
            <a:r>
              <a:rPr lang="en" sz="1100">
                <a:solidFill>
                  <a:schemeClr val="dk1"/>
                </a:solidFill>
              </a:rPr>
              <a:t> like Lists and Dictionaries.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Phase 3: The Professional Bridge</a:t>
            </a:r>
            <a:r>
              <a:rPr lang="en" sz="1100">
                <a:solidFill>
                  <a:schemeClr val="dk1"/>
                </a:solidFill>
              </a:rPr>
              <a:t> – Learn to interact with the real world by managing </a:t>
            </a:r>
            <a:r>
              <a:rPr b="1" lang="en" sz="1100">
                <a:solidFill>
                  <a:schemeClr val="dk1"/>
                </a:solidFill>
              </a:rPr>
              <a:t>File I/O</a:t>
            </a:r>
            <a:r>
              <a:rPr lang="en" sz="1100">
                <a:solidFill>
                  <a:schemeClr val="dk1"/>
                </a:solidFill>
              </a:rPr>
              <a:t>, handling errors with </a:t>
            </a:r>
            <a:r>
              <a:rPr b="1" lang="en" sz="1100">
                <a:solidFill>
                  <a:schemeClr val="dk1"/>
                </a:solidFill>
              </a:rPr>
              <a:t>try/except</a:t>
            </a:r>
            <a:r>
              <a:rPr lang="en" sz="1100">
                <a:solidFill>
                  <a:schemeClr val="dk1"/>
                </a:solidFill>
              </a:rPr>
              <a:t>, and expanding capabilities via </a:t>
            </a:r>
            <a:r>
              <a:rPr b="1" lang="en" sz="1100">
                <a:solidFill>
                  <a:schemeClr val="dk1"/>
                </a:solidFill>
              </a:rPr>
              <a:t>pip</a:t>
            </a:r>
            <a:r>
              <a:rPr lang="en" sz="1100">
                <a:solidFill>
                  <a:schemeClr val="dk1"/>
                </a:solidFill>
              </a:rPr>
              <a:t> and external libraries.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Phase 4: Capstone Project</a:t>
            </a:r>
            <a:r>
              <a:rPr lang="en" sz="1100">
                <a:solidFill>
                  <a:schemeClr val="dk1"/>
                </a:solidFill>
              </a:rPr>
              <a:t> – Synthesize your skills by building a functional application, such as a CLI Task Manager, an API-driven Weather Checker, or an Automated File Organizer.</a:t>
            </a:r>
            <a:endParaRPr sz="1100">
              <a:solidFill>
                <a:schemeClr val="dk1"/>
              </a:solidFill>
            </a:endParaRPr>
          </a:p>
          <a:p>
            <a:pPr indent="0" lvl="0" marL="0" rtl="0" algn="l">
              <a:spcBef>
                <a:spcPts val="1200"/>
              </a:spcBef>
              <a:spcAft>
                <a:spcPts val="1200"/>
              </a:spcAft>
              <a:buNone/>
            </a:pPr>
            <a:r>
              <a:rPr b="1" lang="en" sz="1100">
                <a:solidFill>
                  <a:schemeClr val="dk1"/>
                </a:solidFill>
              </a:rPr>
              <a:t>Learning Outcome</a:t>
            </a:r>
            <a:r>
              <a:rPr lang="en" sz="1100">
                <a:solidFill>
                  <a:schemeClr val="dk1"/>
                </a:solidFill>
              </a:rPr>
              <a:t> – Move from "Hello World" to writing clean, professional-grade Python code capable of automation, data handling, and solving complex problems.</a:t>
            </a:r>
            <a:endParaRPr/>
          </a:p>
        </p:txBody>
      </p:sp>
      <p:pic>
        <p:nvPicPr>
          <p:cNvPr descr="Glowing neon line Python programming language icon isolated on brick wall background. Python coding language sign on browser. Device, programming, developing concept. Colorful outline concept. Vector (Provided by Getty Images)" id="76" name="Google Shape;76;p16"/>
          <p:cNvPicPr preferRelativeResize="0"/>
          <p:nvPr/>
        </p:nvPicPr>
        <p:blipFill>
          <a:blip r:embed="rId3">
            <a:alphaModFix/>
          </a:blip>
          <a:stretch>
            <a:fillRect/>
          </a:stretch>
        </p:blipFill>
        <p:spPr>
          <a:xfrm>
            <a:off x="5117050" y="950188"/>
            <a:ext cx="3820974" cy="38209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