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f49347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ff49347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ff493478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ff493478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ff493478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ff493478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ff493478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ff493478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and, or, not operators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and</a:t>
            </a:r>
            <a:r>
              <a:rPr lang="en" sz="2500"/>
              <a:t> Operator</a:t>
            </a:r>
            <a:endParaRPr sz="25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979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"Strict" Operator:</a:t>
            </a:r>
            <a:r>
              <a:rPr lang="en" sz="1100">
                <a:solidFill>
                  <a:schemeClr val="dk1"/>
                </a:solidFill>
              </a:rPr>
              <a:t>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only if </a:t>
            </a:r>
            <a:r>
              <a:rPr b="1" lang="en" sz="1100">
                <a:solidFill>
                  <a:schemeClr val="dk1"/>
                </a:solidFill>
              </a:rPr>
              <a:t>both</a:t>
            </a:r>
            <a:r>
              <a:rPr lang="en" sz="1100">
                <a:solidFill>
                  <a:schemeClr val="dk1"/>
                </a:solidFill>
              </a:rPr>
              <a:t> statements on either side are true.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Logic:</a:t>
            </a:r>
            <a:r>
              <a:rPr lang="en" sz="1100">
                <a:solidFill>
                  <a:schemeClr val="dk1"/>
                </a:solidFill>
              </a:rPr>
              <a:t> If even one side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, the whole thing is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Case:</a:t>
            </a:r>
            <a:r>
              <a:rPr lang="en" sz="1100">
                <a:solidFill>
                  <a:schemeClr val="dk1"/>
                </a:solidFill>
              </a:rPr>
              <a:t> When two or more requirements must be met simultaneously (e.g., a username </a:t>
            </a:r>
            <a:r>
              <a:rPr i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password must both be correct).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Examples: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(5 &gt; 3) and (10 &lt; 20)</a:t>
            </a:r>
            <a:r>
              <a:rPr lang="en" sz="1100">
                <a:solidFill>
                  <a:schemeClr val="dk1"/>
                </a:solidFill>
              </a:rPr>
              <a:t> →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(5 &gt; 3) and (10 &gt; 20)</a:t>
            </a:r>
            <a:r>
              <a:rPr lang="en" sz="1100">
                <a:solidFill>
                  <a:schemeClr val="dk1"/>
                </a:solidFill>
              </a:rPr>
              <a:t> →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17 1655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983925"/>
            <a:ext cx="6738224" cy="18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or</a:t>
            </a:r>
            <a:r>
              <a:rPr lang="en" sz="2500"/>
              <a:t> Operator</a:t>
            </a:r>
            <a:endParaRPr sz="25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"Flexible" Operator:</a:t>
            </a:r>
            <a:r>
              <a:rPr lang="en" sz="1100">
                <a:solidFill>
                  <a:schemeClr val="dk1"/>
                </a:solidFill>
              </a:rPr>
              <a:t>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if </a:t>
            </a:r>
            <a:r>
              <a:rPr b="1" lang="en" sz="1100">
                <a:solidFill>
                  <a:schemeClr val="dk1"/>
                </a:solidFill>
              </a:rPr>
              <a:t>at least one</a:t>
            </a:r>
            <a:r>
              <a:rPr lang="en" sz="1100">
                <a:solidFill>
                  <a:schemeClr val="dk1"/>
                </a:solidFill>
              </a:rPr>
              <a:t> of the statements is true.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Logic:</a:t>
            </a:r>
            <a:r>
              <a:rPr lang="en" sz="1100">
                <a:solidFill>
                  <a:schemeClr val="dk1"/>
                </a:solidFill>
              </a:rPr>
              <a:t> It only returns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 if both sides are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Case:</a:t>
            </a:r>
            <a:r>
              <a:rPr lang="en" sz="1100">
                <a:solidFill>
                  <a:schemeClr val="dk1"/>
                </a:solidFill>
              </a:rPr>
              <a:t> When you have multiple valid options (e.g., you can enter the club if you are a member </a:t>
            </a:r>
            <a:r>
              <a:rPr i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if you have a ticket).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(5 &gt; 10) or (10 &lt; 20)</a:t>
            </a:r>
            <a:r>
              <a:rPr lang="en" sz="1100">
                <a:solidFill>
                  <a:schemeClr val="dk1"/>
                </a:solidFill>
              </a:rPr>
              <a:t> →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(5 &gt; 10) or (10 &gt; 20)</a:t>
            </a:r>
            <a:r>
              <a:rPr lang="en" sz="1100">
                <a:solidFill>
                  <a:schemeClr val="dk1"/>
                </a:solidFill>
              </a:rPr>
              <a:t> →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17 1657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141898"/>
            <a:ext cx="5837876" cy="18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</a:t>
            </a:r>
            <a:r>
              <a:rPr lang="en" sz="2500">
                <a:solidFill>
                  <a:srgbClr val="188038"/>
                </a:solidFill>
              </a:rPr>
              <a:t>not</a:t>
            </a:r>
            <a:r>
              <a:rPr lang="en" sz="2500"/>
              <a:t> Operator</a:t>
            </a:r>
            <a:endParaRPr sz="25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566300" cy="38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"Inverter":</a:t>
            </a:r>
            <a:r>
              <a:rPr lang="en" sz="1100">
                <a:solidFill>
                  <a:schemeClr val="dk1"/>
                </a:solidFill>
              </a:rPr>
              <a:t> Flips the Boolean result to its opposite.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Logic: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 True</a:t>
            </a:r>
            <a:r>
              <a:rPr lang="en" sz="1100">
                <a:solidFill>
                  <a:schemeClr val="dk1"/>
                </a:solidFill>
              </a:rPr>
              <a:t> becomes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 False</a:t>
            </a:r>
            <a:r>
              <a:rPr lang="en" sz="1100">
                <a:solidFill>
                  <a:schemeClr val="dk1"/>
                </a:solidFill>
              </a:rPr>
              <a:t> becomes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Case:</a:t>
            </a:r>
            <a:r>
              <a:rPr lang="en" sz="1100">
                <a:solidFill>
                  <a:schemeClr val="dk1"/>
                </a:solidFill>
              </a:rPr>
              <a:t> Checking if a condition is </a:t>
            </a:r>
            <a:r>
              <a:rPr i="1" lang="en" sz="1100">
                <a:solidFill>
                  <a:schemeClr val="dk1"/>
                </a:solidFill>
              </a:rPr>
              <a:t>not</a:t>
            </a:r>
            <a:r>
              <a:rPr lang="en" sz="1100">
                <a:solidFill>
                  <a:schemeClr val="dk1"/>
                </a:solidFill>
              </a:rPr>
              <a:t> met (e.g., "if the game is </a:t>
            </a:r>
            <a:r>
              <a:rPr i="1" lang="en" sz="1100">
                <a:solidFill>
                  <a:schemeClr val="dk1"/>
                </a:solidFill>
              </a:rPr>
              <a:t>not</a:t>
            </a:r>
            <a:r>
              <a:rPr lang="en" sz="1100">
                <a:solidFill>
                  <a:schemeClr val="dk1"/>
                </a:solidFill>
              </a:rPr>
              <a:t> over").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 (5 &gt; 10)</a:t>
            </a:r>
            <a:r>
              <a:rPr lang="en" sz="1100">
                <a:solidFill>
                  <a:schemeClr val="dk1"/>
                </a:solidFill>
              </a:rPr>
              <a:t> →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 (because 5 &gt; 10 is False, and not False is True).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 title="Screenshot 2026-04-17 1659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6975" y="1263900"/>
            <a:ext cx="362902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Screenshot 2026-04-17 1700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7900" y="3487550"/>
            <a:ext cx="5274399" cy="15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 (Example)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Goal:</a:t>
            </a:r>
            <a:r>
              <a:rPr lang="en" sz="1100">
                <a:solidFill>
                  <a:schemeClr val="dk1"/>
                </a:solidFill>
              </a:rPr>
              <a:t> Determine if a student is eligible for a scholarship. </a:t>
            </a:r>
            <a:r>
              <a:rPr b="1" lang="en" sz="1100">
                <a:solidFill>
                  <a:schemeClr val="dk1"/>
                </a:solidFill>
              </a:rPr>
              <a:t>Criteria:</a:t>
            </a:r>
            <a:r>
              <a:rPr lang="en" sz="1100">
                <a:solidFill>
                  <a:schemeClr val="dk1"/>
                </a:solidFill>
              </a:rPr>
              <a:t> GPA must be above 3.5 </a:t>
            </a: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(they must be a Senior </a:t>
            </a: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have a special recommendation).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Execution Steps: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Initialize Variables: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Set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gpa = 3.8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is_senior = False</a:t>
            </a:r>
            <a:r>
              <a:rPr lang="en" sz="1100">
                <a:solidFill>
                  <a:schemeClr val="dk1"/>
                </a:solidFill>
              </a:rPr>
              <a:t>, and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has_recommendation = True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Evaluate the "Or" Group:</a:t>
            </a:r>
            <a:r>
              <a:rPr lang="en" sz="1100">
                <a:solidFill>
                  <a:schemeClr val="dk1"/>
                </a:solidFill>
              </a:rPr>
              <a:t> Check if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is_senior or has_recommendation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Apply the "And" Requirement:</a:t>
            </a:r>
            <a:r>
              <a:rPr lang="en" sz="1100">
                <a:solidFill>
                  <a:schemeClr val="dk1"/>
                </a:solidFill>
              </a:rPr>
              <a:t> Check if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gpa &gt; 3.5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the result from Step 2.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Final Verification:</a:t>
            </a:r>
            <a:r>
              <a:rPr lang="en" sz="1100">
                <a:solidFill>
                  <a:schemeClr val="dk1"/>
                </a:solidFill>
              </a:rPr>
              <a:t>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</a:t>
            </a:r>
            <a:r>
              <a:rPr lang="en" sz="1100">
                <a:solidFill>
                  <a:schemeClr val="dk1"/>
                </a:solidFill>
              </a:rPr>
              <a:t> if you wanted to find students who are </a:t>
            </a:r>
            <a:r>
              <a:rPr i="1" lang="en" sz="1100">
                <a:solidFill>
                  <a:schemeClr val="dk1"/>
                </a:solidFill>
              </a:rPr>
              <a:t>ineligible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Output:</a:t>
            </a:r>
            <a:r>
              <a:rPr lang="en" sz="1100">
                <a:solidFill>
                  <a:schemeClr val="dk1"/>
                </a:solidFill>
              </a:rPr>
              <a:t> Print the Boolean result.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Which of these three operators do you think is the most useful for setting "default" values in a program?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