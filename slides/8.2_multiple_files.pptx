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83338ee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83338ee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83338ee9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83338ee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83338ee9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83338ee9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83338ee9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83338ee9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83338ee9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83338ee9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83338ee9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83338ee9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3338ee9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83338ee9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83338ee9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83338ee9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83338ee9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83338ee9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Organizing Python Projects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Stop Using Single Files?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"Spaghetti Code" Problem:</a:t>
            </a:r>
            <a:r>
              <a:rPr lang="en" sz="1100">
                <a:solidFill>
                  <a:schemeClr val="dk1"/>
                </a:solidFill>
              </a:rPr>
              <a:t> Large files become difficult to read and debug.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Collaboration:</a:t>
            </a:r>
            <a:r>
              <a:rPr lang="en" sz="1100">
                <a:solidFill>
                  <a:schemeClr val="dk1"/>
                </a:solidFill>
              </a:rPr>
              <a:t> Multiple team members can’t easily work on one file simultaneously.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Reusability:</a:t>
            </a:r>
            <a:r>
              <a:rPr lang="en" sz="1100">
                <a:solidFill>
                  <a:schemeClr val="dk1"/>
                </a:solidFill>
              </a:rPr>
              <a:t> Hard to use a specific function in a new project if it’s buried in a 2,000-line script.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Maintainability:</a:t>
            </a:r>
            <a:r>
              <a:rPr lang="en" sz="1100">
                <a:solidFill>
                  <a:schemeClr val="dk1"/>
                </a:solidFill>
              </a:rPr>
              <a:t> Logical separation makes it easier to find and fix bugs.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Building Blocks: Modules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is a Module?</a:t>
            </a:r>
            <a:r>
              <a:rPr lang="en" sz="1100">
                <a:solidFill>
                  <a:schemeClr val="dk1"/>
                </a:solidFill>
              </a:rPr>
              <a:t> Any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.py</a:t>
            </a:r>
            <a:r>
              <a:rPr lang="en" sz="1100">
                <a:solidFill>
                  <a:schemeClr val="dk1"/>
                </a:solidFill>
              </a:rPr>
              <a:t> file is a module.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b="1" lang="en" sz="1100">
                <a:solidFill>
                  <a:schemeClr val="dk1"/>
                </a:solidFill>
              </a:rPr>
              <a:t> Statement:</a:t>
            </a:r>
            <a:r>
              <a:rPr lang="en" sz="1100">
                <a:solidFill>
                  <a:schemeClr val="dk1"/>
                </a:solidFill>
              </a:rPr>
              <a:t> How we access code from other files.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file_a.py</a:t>
            </a:r>
            <a:r>
              <a:rPr lang="en" sz="1100">
                <a:solidFill>
                  <a:schemeClr val="dk1"/>
                </a:solidFill>
              </a:rPr>
              <a:t> contains a function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greet()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file_b.py</a:t>
            </a:r>
            <a:r>
              <a:rPr lang="en" sz="1100">
                <a:solidFill>
                  <a:schemeClr val="dk1"/>
                </a:solidFill>
              </a:rPr>
              <a:t> uses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file_a</a:t>
            </a:r>
            <a:r>
              <a:rPr lang="en" sz="1100">
                <a:solidFill>
                  <a:schemeClr val="dk1"/>
                </a:solidFill>
              </a:rPr>
              <a:t> to call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file_a.greet()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Namespace Protection:</a:t>
            </a:r>
            <a:r>
              <a:rPr lang="en" sz="1100">
                <a:solidFill>
                  <a:schemeClr val="dk1"/>
                </a:solidFill>
              </a:rPr>
              <a:t> Modules prevent naming conflicts (two files can both have a function named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main()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 title="Screenshot 2026-04-20 2000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75" y="3055850"/>
            <a:ext cx="34480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title="Screenshot 2026-04-20 2000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2713" y="3055838"/>
            <a:ext cx="279082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Grouping Modules: Packages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74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What is a Package?</a:t>
            </a:r>
            <a:r>
              <a:rPr lang="en" sz="1100">
                <a:solidFill>
                  <a:schemeClr val="dk1"/>
                </a:solidFill>
              </a:rPr>
              <a:t> A directory containing multiple Python modules.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__init__.py</a:t>
            </a:r>
            <a:r>
              <a:rPr b="1" lang="en" sz="1100">
                <a:solidFill>
                  <a:schemeClr val="dk1"/>
                </a:solidFill>
              </a:rPr>
              <a:t> File:</a:t>
            </a:r>
            <a:r>
              <a:rPr lang="en" sz="1100">
                <a:solidFill>
                  <a:schemeClr val="dk1"/>
                </a:solidFill>
              </a:rPr>
              <a:t> * Tells Python to treat the directory as a package.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be empty or used for initialization code.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 Folder Structure: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75" name="Google Shape;75;p16" title="Screenshot 2026-04-20 1946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52" y="2571752"/>
            <a:ext cx="2241325" cy="18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 with Imports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Absolute Imports:</a:t>
            </a:r>
            <a:r>
              <a:rPr lang="en" sz="1100">
                <a:solidFill>
                  <a:schemeClr val="dk1"/>
                </a:solidFill>
              </a:rPr>
              <a:t> Specifying the full path from the project root.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Relative Imports:</a:t>
            </a:r>
            <a:r>
              <a:rPr lang="en" sz="1100">
                <a:solidFill>
                  <a:schemeClr val="dk1"/>
                </a:solidFill>
              </a:rPr>
              <a:t> Using dots to navigate based on current file location.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Best Practice:</a:t>
            </a:r>
            <a:r>
              <a:rPr lang="en" sz="1100">
                <a:solidFill>
                  <a:schemeClr val="dk1"/>
                </a:solidFill>
              </a:rPr>
              <a:t> Use absolute imports whenever possible for clarity.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2" name="Google Shape;82;p17" title="Screenshot 2026-04-20 1949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025" y="1572500"/>
            <a:ext cx="30670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6-04-20 1949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013" y="2571738"/>
            <a:ext cx="40290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Screenshot 2026-04-20 1950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025" y="3547238"/>
            <a:ext cx="396240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if __name__ == "__main__":</a:t>
            </a:r>
            <a:r>
              <a:rPr lang="en" sz="2500"/>
              <a:t> Idiom</a:t>
            </a:r>
            <a:endParaRPr sz="2500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40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Problem:</a:t>
            </a:r>
            <a:r>
              <a:rPr lang="en" sz="1100">
                <a:solidFill>
                  <a:schemeClr val="dk1"/>
                </a:solidFill>
              </a:rPr>
              <a:t> Importing a file executes all code inside it immediately.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Solution:</a:t>
            </a:r>
            <a:r>
              <a:rPr lang="en" sz="1100">
                <a:solidFill>
                  <a:schemeClr val="dk1"/>
                </a:solidFill>
              </a:rPr>
              <a:t> Use the "Main Guard" to prevent script logic from running during an import.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Benefit:</a:t>
            </a:r>
            <a:r>
              <a:rPr lang="en" sz="1100">
                <a:solidFill>
                  <a:schemeClr val="dk1"/>
                </a:solidFill>
              </a:rPr>
              <a:t> Allows a file to be used both as a reusable module and a standalone script.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creenshot 2026-04-20 1952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13" y="1870075"/>
            <a:ext cx="5724525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6-04-20 1954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525" y="3900763"/>
            <a:ext cx="518160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Circular Imports (The Trap)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4176900" cy="3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happens:</a:t>
            </a:r>
            <a:r>
              <a:rPr lang="en" sz="1100">
                <a:solidFill>
                  <a:schemeClr val="dk1"/>
                </a:solidFill>
              </a:rPr>
              <a:t> File A imports File B, and File B imports File 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Result: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ImportError</a:t>
            </a:r>
            <a:r>
              <a:rPr lang="en" sz="1100">
                <a:solidFill>
                  <a:schemeClr val="dk1"/>
                </a:solidFill>
              </a:rPr>
              <a:t>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AttributeError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to Avoid It: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Redesign the architecture (move shared code to a third file).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"Local Imports" (importing inside a function rather than at the top).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Keep dependencies "downward" (High-level modules import low-level modules, not vice versa).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 title="Screenshot 2026-04-20 201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47475"/>
            <a:ext cx="226695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 title="Screenshot 2026-04-20 2011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525" y="2302938"/>
            <a:ext cx="22479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Screenshot 2026-04-20 2012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577475"/>
            <a:ext cx="8079499" cy="15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Project Patterns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Flat Layout:</a:t>
            </a:r>
            <a:r>
              <a:rPr lang="en" sz="1100">
                <a:solidFill>
                  <a:schemeClr val="dk1"/>
                </a:solidFill>
              </a:rPr>
              <a:t> (Small projects) All files in one folder.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1" lang="en" sz="1100">
                <a:solidFill>
                  <a:schemeClr val="dk1"/>
                </a:solidFill>
              </a:rPr>
              <a:t> Layout:</a:t>
            </a:r>
            <a:r>
              <a:rPr lang="en" sz="1100">
                <a:solidFill>
                  <a:schemeClr val="dk1"/>
                </a:solidFill>
              </a:rPr>
              <a:t> (Professional/Large projects) Code lives in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src/</a:t>
            </a:r>
            <a:r>
              <a:rPr lang="en" sz="1100">
                <a:solidFill>
                  <a:schemeClr val="dk1"/>
                </a:solidFill>
              </a:rPr>
              <a:t> subdirectory to separate it from config files.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Standard Folders: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tests/</a:t>
            </a:r>
            <a:r>
              <a:rPr lang="en" sz="1100">
                <a:solidFill>
                  <a:schemeClr val="dk1"/>
                </a:solidFill>
              </a:rPr>
              <a:t>: For your unit tests.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docs/</a:t>
            </a:r>
            <a:r>
              <a:rPr lang="en" sz="1100">
                <a:solidFill>
                  <a:schemeClr val="dk1"/>
                </a:solidFill>
              </a:rPr>
              <a:t>: For documentation.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data/</a:t>
            </a:r>
            <a:r>
              <a:rPr lang="en" sz="1100">
                <a:solidFill>
                  <a:schemeClr val="dk1"/>
                </a:solidFill>
              </a:rPr>
              <a:t>: For input/output files.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 title="Screenshot 2026-04-20 1956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73" y="2879923"/>
            <a:ext cx="1562150" cy="19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for Clean Projects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One Responsibility:</a:t>
            </a:r>
            <a:r>
              <a:rPr lang="en" sz="1100">
                <a:solidFill>
                  <a:schemeClr val="dk1"/>
                </a:solidFill>
              </a:rPr>
              <a:t> Each file should do one thing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database.py</a:t>
            </a:r>
            <a:r>
              <a:rPr lang="en" sz="1100">
                <a:solidFill>
                  <a:schemeClr val="dk1"/>
                </a:solidFill>
              </a:rPr>
              <a:t> only handles DB logic).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Consistent Naming: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snake_case</a:t>
            </a:r>
            <a:r>
              <a:rPr lang="en" sz="1100">
                <a:solidFill>
                  <a:schemeClr val="dk1"/>
                </a:solidFill>
              </a:rPr>
              <a:t> for file names.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Keep it Shallow:</a:t>
            </a:r>
            <a:r>
              <a:rPr lang="en" sz="1100">
                <a:solidFill>
                  <a:schemeClr val="dk1"/>
                </a:solidFill>
              </a:rPr>
              <a:t> Avoid nesting folders 5-6 layers deep.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Docstrings:</a:t>
            </a:r>
            <a:r>
              <a:rPr lang="en" sz="1100">
                <a:solidFill>
                  <a:schemeClr val="dk1"/>
                </a:solidFill>
              </a:rPr>
              <a:t> Always document the purpose of a module at the very top of the file.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 title="Screenshot 2026-04-20 2017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475" y="2503223"/>
            <a:ext cx="5570349" cy="235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Recap: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Modules</a:t>
            </a:r>
            <a:r>
              <a:rPr lang="en" sz="1100">
                <a:solidFill>
                  <a:schemeClr val="dk1"/>
                </a:solidFill>
              </a:rPr>
              <a:t> for logic separation.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Packages</a:t>
            </a:r>
            <a:r>
              <a:rPr lang="en" sz="1100">
                <a:solidFill>
                  <a:schemeClr val="dk1"/>
                </a:solidFill>
              </a:rPr>
              <a:t> for organizational hierarchy.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Main Guards</a:t>
            </a:r>
            <a:r>
              <a:rPr lang="en" sz="1100">
                <a:solidFill>
                  <a:schemeClr val="dk1"/>
                </a:solidFill>
              </a:rPr>
              <a:t> to keep imports clean.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Next Steps: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Refactor a "giant" script into three modules.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Experiment with moving utility functions into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utils/</a:t>
            </a:r>
            <a:r>
              <a:rPr lang="en" sz="1100">
                <a:solidFill>
                  <a:schemeClr val="dk1"/>
                </a:solidFill>
              </a:rPr>
              <a:t> package.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