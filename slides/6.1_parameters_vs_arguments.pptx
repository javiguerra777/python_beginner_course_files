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oboto Mon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Mono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Mono-italic.fntdata"/><Relationship Id="rId14" Type="http://schemas.openxmlformats.org/officeDocument/2006/relationships/font" Target="fonts/RobotoMono-bold.fntdata"/><Relationship Id="rId16" Type="http://schemas.openxmlformats.org/officeDocument/2006/relationships/font" Target="fonts/Roboto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e02cf2838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e02cf2838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e02cf28386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e02cf2838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02cf2838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e02cf2838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02cf28386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e02cf28386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02cf28386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e02cf28386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02cf28386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e02cf28386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Functions Parameters vs Arguments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Parameters vs. Arguments – The Key Distinction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While the terms are often used interchangeably in casual conversation, they represent two different stages of a function's life cycle.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Parameters:</a:t>
            </a:r>
            <a:r>
              <a:rPr lang="en" sz="1100">
                <a:solidFill>
                  <a:schemeClr val="dk1"/>
                </a:solidFill>
              </a:rPr>
              <a:t> The </a:t>
            </a:r>
            <a:r>
              <a:rPr b="1" lang="en" sz="1100">
                <a:solidFill>
                  <a:schemeClr val="dk1"/>
                </a:solidFill>
              </a:rPr>
              <a:t>placeholders</a:t>
            </a:r>
            <a:r>
              <a:rPr lang="en" sz="1100">
                <a:solidFill>
                  <a:schemeClr val="dk1"/>
                </a:solidFill>
              </a:rPr>
              <a:t> defined in the function signature. They act as local variables that only exist inside the function.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Arguments:</a:t>
            </a:r>
            <a:r>
              <a:rPr lang="en" sz="1100">
                <a:solidFill>
                  <a:schemeClr val="dk1"/>
                </a:solidFill>
              </a:rPr>
              <a:t> The </a:t>
            </a:r>
            <a:r>
              <a:rPr b="1" lang="en" sz="1100">
                <a:solidFill>
                  <a:schemeClr val="dk1"/>
                </a:solidFill>
              </a:rPr>
              <a:t>actual values</a:t>
            </a:r>
            <a:r>
              <a:rPr lang="en" sz="1100">
                <a:solidFill>
                  <a:schemeClr val="dk1"/>
                </a:solidFill>
              </a:rPr>
              <a:t> passed into the function when you call it.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Parameters – The Blueprint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065200" cy="354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Parameters are the names listed in the function's definition. They define what kind of data the function </a:t>
            </a:r>
            <a:r>
              <a:rPr i="1" lang="en" sz="1100">
                <a:solidFill>
                  <a:schemeClr val="dk1"/>
                </a:solidFill>
              </a:rPr>
              <a:t>expects</a:t>
            </a:r>
            <a:r>
              <a:rPr lang="en" sz="1100">
                <a:solidFill>
                  <a:schemeClr val="dk1"/>
                </a:solidFill>
              </a:rPr>
              <a:t> to receive.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Location:</a:t>
            </a:r>
            <a:r>
              <a:rPr lang="en" sz="1100">
                <a:solidFill>
                  <a:schemeClr val="dk1"/>
                </a:solidFill>
              </a:rPr>
              <a:t> Inside the parentheses of the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lang="en" sz="1100">
                <a:solidFill>
                  <a:schemeClr val="dk1"/>
                </a:solidFill>
              </a:rPr>
              <a:t> statement.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Purpose:</a:t>
            </a:r>
            <a:r>
              <a:rPr lang="en" sz="1100">
                <a:solidFill>
                  <a:schemeClr val="dk1"/>
                </a:solidFill>
              </a:rPr>
              <a:t> To allow the function to be flexible and work with different data sets without changing its internal logic.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7" name="Google Shape;67;p15" title="Screenshot 2026-04-20 11463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453" y="2166988"/>
            <a:ext cx="7320400" cy="80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Arguments – The Data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750400" cy="35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Arguments are the pieces of information you provide to the function when you invoke (call) it.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Location:</a:t>
            </a:r>
            <a:r>
              <a:rPr lang="en" sz="1100">
                <a:solidFill>
                  <a:schemeClr val="dk1"/>
                </a:solidFill>
              </a:rPr>
              <a:t> Inside the parentheses of the function call.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Mapping:</a:t>
            </a:r>
            <a:r>
              <a:rPr lang="en" sz="1100">
                <a:solidFill>
                  <a:schemeClr val="dk1"/>
                </a:solidFill>
              </a:rPr>
              <a:t> When the function runs, the </a:t>
            </a:r>
            <a:r>
              <a:rPr b="1" lang="en" sz="1100">
                <a:solidFill>
                  <a:schemeClr val="dk1"/>
                </a:solidFill>
              </a:rPr>
              <a:t>Argument</a:t>
            </a:r>
            <a:r>
              <a:rPr lang="en" sz="1100">
                <a:solidFill>
                  <a:schemeClr val="dk1"/>
                </a:solidFill>
              </a:rPr>
              <a:t> is assigned to the </a:t>
            </a:r>
            <a:r>
              <a:rPr b="1" lang="en" sz="1100">
                <a:solidFill>
                  <a:schemeClr val="dk1"/>
                </a:solidFill>
              </a:rPr>
              <a:t>Parameter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6" title="Screenshot 2026-04-20 1149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275" y="2147678"/>
            <a:ext cx="7708075" cy="183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Default Parameters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84500" cy="390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Default parameters allow you to initialize a parameter with a fallback value if no argument is provided during the function call. This makes your functions more flexible and easier to use.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The Syntax:</a:t>
            </a:r>
            <a:r>
              <a:rPr lang="en" sz="1100">
                <a:solidFill>
                  <a:schemeClr val="dk1"/>
                </a:solidFill>
              </a:rPr>
              <a:t> You assign a value directly in the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lang="en" sz="1100">
                <a:solidFill>
                  <a:schemeClr val="dk1"/>
                </a:solidFill>
              </a:rPr>
              <a:t> line: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def function(param=value):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The Behavior:</a:t>
            </a:r>
            <a:r>
              <a:rPr lang="en" sz="1100">
                <a:solidFill>
                  <a:schemeClr val="dk1"/>
                </a:solidFill>
              </a:rPr>
              <a:t> * If you </a:t>
            </a:r>
            <a:r>
              <a:rPr b="1" lang="en" sz="1100">
                <a:solidFill>
                  <a:schemeClr val="dk1"/>
                </a:solidFill>
              </a:rPr>
              <a:t>provide</a:t>
            </a:r>
            <a:r>
              <a:rPr lang="en" sz="1100">
                <a:solidFill>
                  <a:schemeClr val="dk1"/>
                </a:solidFill>
              </a:rPr>
              <a:t> an argument, Python uses your value.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If you </a:t>
            </a:r>
            <a:r>
              <a:rPr b="1" lang="en" sz="1100">
                <a:solidFill>
                  <a:schemeClr val="dk1"/>
                </a:solidFill>
              </a:rPr>
              <a:t>omit</a:t>
            </a:r>
            <a:r>
              <a:rPr lang="en" sz="1100">
                <a:solidFill>
                  <a:schemeClr val="dk1"/>
                </a:solidFill>
              </a:rPr>
              <a:t> the argument, Python uses the default value.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The Rule:</a:t>
            </a:r>
            <a:r>
              <a:rPr lang="en" sz="1100">
                <a:solidFill>
                  <a:schemeClr val="dk1"/>
                </a:solidFill>
              </a:rPr>
              <a:t> Default parameters </a:t>
            </a:r>
            <a:r>
              <a:rPr b="1" lang="en" sz="1100">
                <a:solidFill>
                  <a:schemeClr val="dk1"/>
                </a:solidFill>
              </a:rPr>
              <a:t>must</a:t>
            </a:r>
            <a:r>
              <a:rPr lang="en" sz="1100">
                <a:solidFill>
                  <a:schemeClr val="dk1"/>
                </a:solidFill>
              </a:rPr>
              <a:t> come after any required parameters in the function definition.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1" name="Google Shape;81;p17" title="Screenshot 2026-04-20 1156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325" y="2669013"/>
            <a:ext cx="6591300" cy="183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Use Defaults?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Default parameters follow the DRY principle by reducing the amount of "boilerplate" code you have to write for common scenarios.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Simplification:</a:t>
            </a:r>
            <a:r>
              <a:rPr lang="en" sz="1100">
                <a:solidFill>
                  <a:schemeClr val="dk1"/>
                </a:solidFill>
              </a:rPr>
              <a:t> You don't have to provide the same common value over and over.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Backward Compatibility:</a:t>
            </a:r>
            <a:r>
              <a:rPr lang="en" sz="1100">
                <a:solidFill>
                  <a:schemeClr val="dk1"/>
                </a:solidFill>
              </a:rPr>
              <a:t> You can add new features to a function without breaking existing code that calls it.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Safety:</a:t>
            </a:r>
            <a:r>
              <a:rPr lang="en" sz="1100">
                <a:solidFill>
                  <a:schemeClr val="dk1"/>
                </a:solidFill>
              </a:rPr>
              <a:t> They provide a sensible "standard" behavior while still allowing for customization when needed.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Putting It All Together – Handling Multiple Inputs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To master DRY principles, you must understand how to map multiple arguments to multiple parameters correctly.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The Scenario: Calculating Area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We want to create a function that calculates the area of various rectangles.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Steps to Accomplish Mapping: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Define Requirements:</a:t>
            </a:r>
            <a:r>
              <a:rPr lang="en" sz="1100">
                <a:solidFill>
                  <a:schemeClr val="dk1"/>
                </a:solidFill>
              </a:rPr>
              <a:t> Determine how many pieces of info your function needs (Parameters).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Assign Names:</a:t>
            </a:r>
            <a:r>
              <a:rPr lang="en" sz="1100">
                <a:solidFill>
                  <a:schemeClr val="dk1"/>
                </a:solidFill>
              </a:rPr>
              <a:t> Give parameters descriptive names that reflect the data they hold.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Pass Values:</a:t>
            </a:r>
            <a:r>
              <a:rPr lang="en" sz="1100">
                <a:solidFill>
                  <a:schemeClr val="dk1"/>
                </a:solidFill>
              </a:rPr>
              <a:t> Provide the real-world data (Arguments) when calling the function.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Verification:</a:t>
            </a:r>
            <a:r>
              <a:rPr lang="en" sz="1100">
                <a:solidFill>
                  <a:schemeClr val="dk1"/>
                </a:solidFill>
              </a:rPr>
              <a:t> Ensure the number of arguments matches the number of parameters to avoid a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TypeError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