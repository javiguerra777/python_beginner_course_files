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096178-BD9F-4C38-8EF4-A9B72DE0FC69}">
  <a:tblStyle styleId="{EC096178-BD9F-4C38-8EF4-A9B72DE0FC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Mon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8109acd5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8109acd5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109acd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109acd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8109acd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8109acd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8109acd5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8109acd5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8133afbf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8133afbf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8133afbf0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8133afbf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133afbf0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8133afbf0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8109acd5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8109acd5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Lists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Introduction to Lists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4559100" cy="3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Python lists are the "Swiss Army Knife" of data structures. Whether you're tracking a grocery list or processing thousands of data points, understanding how lists store and access data is foundational to your coding journey.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is a List?</a:t>
            </a:r>
            <a:r>
              <a:rPr lang="en" sz="1100">
                <a:solidFill>
                  <a:schemeClr val="dk1"/>
                </a:solidFill>
              </a:rPr>
              <a:t> A built-in Python data type used to store multiple items in a single variable.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Syntax:</a:t>
            </a:r>
            <a:r>
              <a:rPr lang="en" sz="1100">
                <a:solidFill>
                  <a:schemeClr val="dk1"/>
                </a:solidFill>
              </a:rPr>
              <a:t> Defined using square brackets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lang="en" sz="1100">
                <a:solidFill>
                  <a:schemeClr val="dk1"/>
                </a:solidFill>
              </a:rPr>
              <a:t> with items separated by commas.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Characteristics: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Ordered:</a:t>
            </a:r>
            <a:r>
              <a:rPr lang="en" sz="1100">
                <a:solidFill>
                  <a:schemeClr val="dk1"/>
                </a:solidFill>
              </a:rPr>
              <a:t> They maintain the sequence in which elements are added.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Changeable (Mutable):</a:t>
            </a:r>
            <a:r>
              <a:rPr lang="en" sz="1100">
                <a:solidFill>
                  <a:schemeClr val="dk1"/>
                </a:solidFill>
              </a:rPr>
              <a:t> You can add, remove, or modify items after creation.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Allows Duplicates:</a:t>
            </a:r>
            <a:r>
              <a:rPr lang="en" sz="1100">
                <a:solidFill>
                  <a:schemeClr val="dk1"/>
                </a:solidFill>
              </a:rPr>
              <a:t> Since every item has a specific place, the same value can appear multiple times.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1" name="Google Shape;61;p14" title="Screenshot 2026-04-20 0910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723" y="1982925"/>
            <a:ext cx="4114025" cy="117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Indexing — Finding Your Data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537500" cy="3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Concept:</a:t>
            </a:r>
            <a:r>
              <a:rPr lang="en" sz="1100">
                <a:solidFill>
                  <a:schemeClr val="dk1"/>
                </a:solidFill>
              </a:rPr>
              <a:t> Every item in a list has a "position number" called an index.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Zero-Based Indexing:</a:t>
            </a:r>
            <a:r>
              <a:rPr lang="en" sz="1100">
                <a:solidFill>
                  <a:schemeClr val="dk1"/>
                </a:solidFill>
              </a:rPr>
              <a:t> Python starts counting at </a:t>
            </a:r>
            <a:r>
              <a:rPr b="1" lang="en" sz="1100">
                <a:solidFill>
                  <a:schemeClr val="dk1"/>
                </a:solidFill>
              </a:rPr>
              <a:t>0</a:t>
            </a:r>
            <a:r>
              <a:rPr lang="en" sz="1100">
                <a:solidFill>
                  <a:schemeClr val="dk1"/>
                </a:solidFill>
              </a:rPr>
              <a:t>, not 1.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Positive vs. Negative Indexing: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Positive: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list[0]</a:t>
            </a:r>
            <a:r>
              <a:rPr lang="en" sz="1100">
                <a:solidFill>
                  <a:schemeClr val="dk1"/>
                </a:solidFill>
              </a:rPr>
              <a:t> accesses the first item.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Negative: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list[-1]</a:t>
            </a:r>
            <a:r>
              <a:rPr lang="en" sz="1100">
                <a:solidFill>
                  <a:schemeClr val="dk1"/>
                </a:solidFill>
              </a:rPr>
              <a:t> accesses the last item (useful when you don't know the list length).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Screenshot 2026-04-20 0912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9200" y="2118200"/>
            <a:ext cx="4128375" cy="9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50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Slicing — Extracting a Range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914400"/>
            <a:ext cx="86061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Syntax: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list[start:stop:step]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How it Works: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Start:</a:t>
            </a:r>
            <a:r>
              <a:rPr lang="en" sz="1100">
                <a:solidFill>
                  <a:schemeClr val="dk1"/>
                </a:solidFill>
              </a:rPr>
              <a:t> The index where the slice begins (inclusive).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Stop:</a:t>
            </a:r>
            <a:r>
              <a:rPr lang="en" sz="1100">
                <a:solidFill>
                  <a:schemeClr val="dk1"/>
                </a:solidFill>
              </a:rPr>
              <a:t> The index where the slice ends (</a:t>
            </a:r>
            <a:r>
              <a:rPr b="1" lang="en" sz="1100">
                <a:solidFill>
                  <a:schemeClr val="dk1"/>
                </a:solidFill>
              </a:rPr>
              <a:t>exclusive</a:t>
            </a:r>
            <a:r>
              <a:rPr lang="en" sz="1100">
                <a:solidFill>
                  <a:schemeClr val="dk1"/>
                </a:solidFill>
              </a:rPr>
              <a:t>—it stops just before this index).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Step:</a:t>
            </a:r>
            <a:r>
              <a:rPr lang="en" sz="1100">
                <a:solidFill>
                  <a:schemeClr val="dk1"/>
                </a:solidFill>
              </a:rPr>
              <a:t> (Optional) Determines the increment between each index (e.g., a step of 2 skips every other item).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Common Shortcuts: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[:3]</a:t>
            </a:r>
            <a:r>
              <a:rPr lang="en" sz="1100">
                <a:solidFill>
                  <a:schemeClr val="dk1"/>
                </a:solidFill>
              </a:rPr>
              <a:t> — Get everything from the beginning to index 2.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[2:]</a:t>
            </a:r>
            <a:r>
              <a:rPr lang="en" sz="1100">
                <a:solidFill>
                  <a:schemeClr val="dk1"/>
                </a:solidFill>
              </a:rPr>
              <a:t> — Get everything from index 2 to the end.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[::-1]</a:t>
            </a:r>
            <a:r>
              <a:rPr lang="en" sz="1100">
                <a:solidFill>
                  <a:schemeClr val="dk1"/>
                </a:solidFill>
              </a:rPr>
              <a:t> — A clever trick to reverse the entire list.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 title="Screenshot 2026-04-20 0913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925" y="3458525"/>
            <a:ext cx="4577025" cy="16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Iterating with For Loops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4696200" cy="3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Concept:</a:t>
            </a:r>
            <a:r>
              <a:rPr lang="en" sz="1100">
                <a:solidFill>
                  <a:schemeClr val="dk1"/>
                </a:solidFill>
              </a:rPr>
              <a:t>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100">
                <a:solidFill>
                  <a:schemeClr val="dk1"/>
                </a:solidFill>
              </a:rPr>
              <a:t> loop allows you to "visit" each item in a list one by one to perform an action.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Sample Syntax: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```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74EA7"/>
                </a:solidFill>
              </a:rPr>
              <a:t>for </a:t>
            </a:r>
            <a:r>
              <a:rPr lang="en" sz="1100">
                <a:solidFill>
                  <a:schemeClr val="dk1"/>
                </a:solidFill>
              </a:rPr>
              <a:t>item </a:t>
            </a:r>
            <a:r>
              <a:rPr lang="en" sz="1100">
                <a:solidFill>
                  <a:srgbClr val="674EA7"/>
                </a:solidFill>
              </a:rPr>
              <a:t>in </a:t>
            </a:r>
            <a:r>
              <a:rPr lang="en" sz="1100">
                <a:solidFill>
                  <a:schemeClr val="dk1"/>
                </a:solidFill>
              </a:rPr>
              <a:t>my_list: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# Do something with item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```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Why use it?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Automation:</a:t>
            </a:r>
            <a:r>
              <a:rPr lang="en" sz="1100">
                <a:solidFill>
                  <a:schemeClr val="dk1"/>
                </a:solidFill>
              </a:rPr>
              <a:t> Apply the same logic to 10 items or 10,000 items without extra code.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Readability:</a:t>
            </a:r>
            <a:r>
              <a:rPr lang="en" sz="1100">
                <a:solidFill>
                  <a:schemeClr val="dk1"/>
                </a:solidFill>
              </a:rPr>
              <a:t> Pythonic loops read almost like English sentences.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enumerate()</a:t>
            </a:r>
            <a:r>
              <a:rPr b="1" lang="en" sz="1100">
                <a:solidFill>
                  <a:schemeClr val="dk1"/>
                </a:solidFill>
              </a:rPr>
              <a:t> Function:</a:t>
            </a:r>
            <a:r>
              <a:rPr lang="en" sz="1100">
                <a:solidFill>
                  <a:schemeClr val="dk1"/>
                </a:solidFill>
              </a:rPr>
              <a:t> If you need both the </a:t>
            </a:r>
            <a:r>
              <a:rPr b="1" lang="en" sz="1100">
                <a:solidFill>
                  <a:schemeClr val="dk1"/>
                </a:solidFill>
              </a:rPr>
              <a:t>index</a:t>
            </a:r>
            <a:r>
              <a:rPr lang="en" sz="1100">
                <a:solidFill>
                  <a:schemeClr val="dk1"/>
                </a:solidFill>
              </a:rPr>
              <a:t> and the </a:t>
            </a:r>
            <a:r>
              <a:rPr b="1" lang="en" sz="1100">
                <a:solidFill>
                  <a:schemeClr val="dk1"/>
                </a:solidFill>
              </a:rPr>
              <a:t>value</a:t>
            </a:r>
            <a:r>
              <a:rPr lang="en" sz="1100">
                <a:solidFill>
                  <a:schemeClr val="dk1"/>
                </a:solidFill>
              </a:rPr>
              <a:t> while looping,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enumerate(my_list)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82" name="Google Shape;82;p17" title="Screenshot 2026-04-20 0915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8638" y="1990725"/>
            <a:ext cx="5514975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Items to Python List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4140600" cy="39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Adding to the End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rgbClr val="1155CC"/>
                </a:solidFill>
              </a:rPr>
              <a:t>append</a:t>
            </a:r>
            <a:r>
              <a:rPr lang="en" sz="1200">
                <a:solidFill>
                  <a:schemeClr val="dk1"/>
                </a:solidFill>
              </a:rPr>
              <a:t>(</a:t>
            </a:r>
            <a:r>
              <a:rPr lang="en" sz="1200">
                <a:solidFill>
                  <a:srgbClr val="674EA7"/>
                </a:solidFill>
              </a:rPr>
              <a:t>item</a:t>
            </a:r>
            <a:r>
              <a:rPr lang="en" sz="1200">
                <a:solidFill>
                  <a:schemeClr val="dk1"/>
                </a:solidFill>
              </a:rPr>
              <a:t>): Adds one item to the end of the list.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Adding at a Specific Position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rgbClr val="1155CC"/>
                </a:solidFill>
              </a:rPr>
              <a:t>insert</a:t>
            </a:r>
            <a:r>
              <a:rPr lang="en" sz="1200">
                <a:solidFill>
                  <a:schemeClr val="dk1"/>
                </a:solidFill>
              </a:rPr>
              <a:t>(</a:t>
            </a:r>
            <a:r>
              <a:rPr lang="en" sz="1200">
                <a:solidFill>
                  <a:srgbClr val="38761D"/>
                </a:solidFill>
              </a:rPr>
              <a:t>index</a:t>
            </a:r>
            <a:r>
              <a:rPr lang="en" sz="1200">
                <a:solidFill>
                  <a:schemeClr val="dk1"/>
                </a:solidFill>
              </a:rPr>
              <a:t>, </a:t>
            </a:r>
            <a:r>
              <a:rPr lang="en" sz="1200">
                <a:solidFill>
                  <a:srgbClr val="674EA7"/>
                </a:solidFill>
              </a:rPr>
              <a:t>item</a:t>
            </a:r>
            <a:r>
              <a:rPr lang="en" sz="1200">
                <a:solidFill>
                  <a:schemeClr val="dk1"/>
                </a:solidFill>
              </a:rPr>
              <a:t>): Places an item at a specific index.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Use 0 for the beginning: my_list.insert(0, "new_item").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Items at and after the index are shifted to the right.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9" name="Google Shape;89;p18" title="Screenshot 2026-04-20 0936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99975"/>
            <a:ext cx="40767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Screenshot 2026-04-20 0937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381475"/>
            <a:ext cx="4076700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Item in Python List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45250"/>
            <a:ext cx="4191300" cy="3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To update an item in a Python list you must use indexing to accomplish this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U</a:t>
            </a:r>
            <a:r>
              <a:rPr lang="en">
                <a:solidFill>
                  <a:srgbClr val="000000"/>
                </a:solidFill>
              </a:rPr>
              <a:t>se the assignment operator </a:t>
            </a:r>
            <a:r>
              <a:rPr lang="en">
                <a:solidFill>
                  <a:srgbClr val="38761D"/>
                </a:solidFill>
              </a:rPr>
              <a:t>(=)</a:t>
            </a:r>
            <a:r>
              <a:rPr lang="en">
                <a:solidFill>
                  <a:srgbClr val="000000"/>
                </a:solidFill>
              </a:rPr>
              <a:t>. REMEMBER, Python uses zero-based indexing, meaning the first item is at index 0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97" name="Google Shape;97;p19" title="Screenshot 2026-04-20 093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856873"/>
            <a:ext cx="4499151" cy="7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113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Item From Python List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685900"/>
            <a:ext cx="7422900" cy="4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Python provides several built-in tools depending on whether you know the value or the position of the item.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graphicFrame>
        <p:nvGraphicFramePr>
          <p:cNvPr id="104" name="Google Shape;104;p20"/>
          <p:cNvGraphicFramePr/>
          <p:nvPr/>
        </p:nvGraphicFramePr>
        <p:xfrm>
          <a:off x="311700" y="108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{EC096178-BD9F-4C38-8EF4-A9B72DE0FC69}</a:tableStyleId>
              </a:tblPr>
              <a:tblGrid>
                <a:gridCol w="1210300"/>
                <a:gridCol w="2661200"/>
                <a:gridCol w="1737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Method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Action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Example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remove(val)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Deletes the first occurrence of </a:t>
                      </a:r>
                      <a:r>
                        <a:rPr b="1" lang="en"/>
                        <a:t>val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list.remove(“apple”)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pop(idx)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Deletes and returns item at </a:t>
                      </a:r>
                      <a:r>
                        <a:rPr b="1" lang="en"/>
                        <a:t>idx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 = list.pop(1)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del list[idx]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Deletes item or slice at </a:t>
                      </a:r>
                      <a:r>
                        <a:rPr b="1" lang="en"/>
                        <a:t>idx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del list [0:2]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clear()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Empties entire list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list.clear()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5" name="Google Shape;105;p20" title="Screenshot 2026-04-20 0944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9400" y="1087300"/>
            <a:ext cx="2923200" cy="6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 title="Screenshot 2026-04-20 0945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9400" y="1873550"/>
            <a:ext cx="2923200" cy="870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Screenshot 2026-04-20 09462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9400" y="4107150"/>
            <a:ext cx="2923200" cy="67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Screenshot 2026-04-20 09480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9400" y="2870238"/>
            <a:ext cx="2923200" cy="1110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Goal:</a:t>
            </a:r>
            <a:r>
              <a:rPr lang="en" sz="1100">
                <a:solidFill>
                  <a:schemeClr val="dk1"/>
                </a:solidFill>
              </a:rPr>
              <a:t> Manage a list of "Top 5 Innovations" by updating an entry and extracting the top 3 for a summary report.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Execution Steps: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Initialize:</a:t>
            </a:r>
            <a:r>
              <a:rPr lang="en" sz="1100">
                <a:solidFill>
                  <a:schemeClr val="dk1"/>
                </a:solidFill>
              </a:rPr>
              <a:t> Create a list of 5 strings representing modern innovations.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Update:</a:t>
            </a:r>
            <a:r>
              <a:rPr lang="en" sz="1100">
                <a:solidFill>
                  <a:schemeClr val="dk1"/>
                </a:solidFill>
              </a:rPr>
              <a:t> Use </a:t>
            </a:r>
            <a:r>
              <a:rPr b="1" lang="en" sz="1100">
                <a:solidFill>
                  <a:schemeClr val="dk1"/>
                </a:solidFill>
              </a:rPr>
              <a:t>indexing</a:t>
            </a:r>
            <a:r>
              <a:rPr lang="en" sz="1100">
                <a:solidFill>
                  <a:schemeClr val="dk1"/>
                </a:solidFill>
              </a:rPr>
              <a:t> to replace the 4th item (index 3) with a more recent breakthrough.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Extract:</a:t>
            </a:r>
            <a:r>
              <a:rPr lang="en" sz="1100">
                <a:solidFill>
                  <a:schemeClr val="dk1"/>
                </a:solidFill>
              </a:rPr>
              <a:t> Use </a:t>
            </a:r>
            <a:r>
              <a:rPr b="1" lang="en" sz="1100">
                <a:solidFill>
                  <a:schemeClr val="dk1"/>
                </a:solidFill>
              </a:rPr>
              <a:t>slicing</a:t>
            </a:r>
            <a:r>
              <a:rPr lang="en" sz="1100">
                <a:solidFill>
                  <a:schemeClr val="dk1"/>
                </a:solidFill>
              </a:rPr>
              <a:t> to create a new sub-list containing only the "Top 3" items.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Process:</a:t>
            </a:r>
            <a:r>
              <a:rPr lang="en" sz="1100">
                <a:solidFill>
                  <a:schemeClr val="dk1"/>
                </a:solidFill>
              </a:rPr>
              <a:t> Use a </a:t>
            </a:r>
            <a:r>
              <a:rPr b="1" lang="en" sz="1100">
                <a:solidFill>
                  <a:schemeClr val="dk1"/>
                </a:solidFill>
              </a:rPr>
              <a:t>for loop</a:t>
            </a:r>
            <a:r>
              <a:rPr lang="en" sz="1100">
                <a:solidFill>
                  <a:schemeClr val="dk1"/>
                </a:solidFill>
              </a:rPr>
              <a:t> to print each of the Top 3 items in a numbered list format.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