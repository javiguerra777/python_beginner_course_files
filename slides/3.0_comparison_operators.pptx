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729f8c8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729f8c8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29f8c87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29f8c87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29f8c87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29f8c87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29f8c87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29f8c87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29f8c87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29f8c87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Comparison Operators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Comparison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52011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are they?</a:t>
            </a:r>
            <a:r>
              <a:rPr lang="en" sz="1100">
                <a:solidFill>
                  <a:schemeClr val="dk1"/>
                </a:solidFill>
              </a:rPr>
              <a:t> Symbols used to compare two values (operands).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Result:</a:t>
            </a:r>
            <a:r>
              <a:rPr lang="en" sz="1100">
                <a:solidFill>
                  <a:schemeClr val="dk1"/>
                </a:solidFill>
              </a:rPr>
              <a:t> Every comparison results in a </a:t>
            </a:r>
            <a:r>
              <a:rPr b="1" lang="en" sz="1100">
                <a:solidFill>
                  <a:schemeClr val="dk1"/>
                </a:solidFill>
              </a:rPr>
              <a:t>Boolean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use them?</a:t>
            </a:r>
            <a:r>
              <a:rPr lang="en" sz="1100">
                <a:solidFill>
                  <a:schemeClr val="dk1"/>
                </a:solidFill>
              </a:rPr>
              <a:t> They are the "brains" behind decision-making in code (if-statements and loops).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Comparison Operators: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“==” (Equal to)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“!=” (Not Equal to)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“&gt;” (Greater than)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“&gt;=” (Greater than or Equal to)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“&lt;” (Less than)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“&lt;=” (Less than or Equal to)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Flowchart linear icon. Diagram. Visualization of process. Problem solving stages. Program logic sequence. Thin line illustration. Contour symbol. Vector isolated outline drawing. Editable stroke (Provided by Getty Images)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1575" y="1204825"/>
            <a:ext cx="3326403" cy="3326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 and Inequality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4871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Equal To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both sides are identical.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Warning:</a:t>
            </a:r>
            <a:r>
              <a:rPr lang="en" sz="1100">
                <a:solidFill>
                  <a:schemeClr val="dk1"/>
                </a:solidFill>
              </a:rPr>
              <a:t> Don’t confuse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100">
                <a:solidFill>
                  <a:schemeClr val="dk1"/>
                </a:solidFill>
              </a:rPr>
              <a:t> (comparison)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100">
                <a:solidFill>
                  <a:schemeClr val="dk1"/>
                </a:solidFill>
              </a:rPr>
              <a:t> (assignment).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 == 5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Not Equal To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the sides are different.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"Apple" != "Orange"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17 1624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700" y="2310525"/>
            <a:ext cx="3657600" cy="70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17 1624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700" y="1228113"/>
            <a:ext cx="365760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Greater Than and Less Than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580700" cy="3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Greater Than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the left value is strictly larger than the right.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 &gt; 3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Less Than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the left value is strictly smaller than the right.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 &lt; -1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76" name="Google Shape;76;p16" title="Screenshot 2026-04-17 1628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000" y="2144000"/>
            <a:ext cx="33147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4-17 1628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00" y="1152475"/>
            <a:ext cx="32956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Inclusive Boundaries (</a:t>
            </a:r>
            <a:r>
              <a:rPr lang="en" sz="2500">
                <a:solidFill>
                  <a:srgbClr val="188038"/>
                </a:solidFill>
              </a:rPr>
              <a:t>&gt;=</a:t>
            </a:r>
            <a:r>
              <a:rPr lang="en" sz="2500"/>
              <a:t> and </a:t>
            </a:r>
            <a:r>
              <a:rPr lang="en" sz="2500">
                <a:solidFill>
                  <a:srgbClr val="188038"/>
                </a:solidFill>
              </a:rPr>
              <a:t>&lt;=</a:t>
            </a:r>
            <a:r>
              <a:rPr lang="en" sz="2500"/>
              <a:t>)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42993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Greater Than or Equal To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the left value is either larger than </a:t>
            </a: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exactly equal to the right.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Logic:</a:t>
            </a:r>
            <a:r>
              <a:rPr lang="en" sz="1100">
                <a:solidFill>
                  <a:schemeClr val="dk1"/>
                </a:solidFill>
              </a:rPr>
              <a:t> It only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 if the left is strictly smaller.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 &gt;= 10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Less Than or Equal To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the left value is either smaller than </a:t>
            </a: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exactly equal to the right.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Logic:</a:t>
            </a:r>
            <a:r>
              <a:rPr lang="en" sz="1100">
                <a:solidFill>
                  <a:schemeClr val="dk1"/>
                </a:solidFill>
              </a:rPr>
              <a:t> It only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 if the left is strictly larger.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8 &lt;= 10</a:t>
            </a:r>
            <a:r>
              <a:rPr lang="en" sz="1100">
                <a:solidFill>
                  <a:schemeClr val="dk1"/>
                </a:solidFill>
              </a:rPr>
              <a:t>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4" name="Google Shape;84;p17" title="Screenshot 2026-04-17 1629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950" y="2079050"/>
            <a:ext cx="35337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Screenshot 2026-04-17 162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950" y="1152475"/>
            <a:ext cx="34766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Create a simple logic gate to check if a user is eligible for a "Senior Discount" (Age 65+).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Step-by-Step Logic: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the Input:</a:t>
            </a:r>
            <a:r>
              <a:rPr lang="en" sz="1100">
                <a:solidFill>
                  <a:schemeClr val="dk1"/>
                </a:solidFill>
              </a:rPr>
              <a:t> Set a variable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user_age</a:t>
            </a:r>
            <a:r>
              <a:rPr lang="en" sz="1100">
                <a:solidFill>
                  <a:schemeClr val="dk1"/>
                </a:solidFill>
              </a:rPr>
              <a:t> to a specific number based on user input.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the Threshold:</a:t>
            </a:r>
            <a:r>
              <a:rPr lang="en" sz="1100">
                <a:solidFill>
                  <a:schemeClr val="dk1"/>
                </a:solidFill>
              </a:rPr>
              <a:t> Set a variable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discount_age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Compare:</a:t>
            </a:r>
            <a:r>
              <a:rPr lang="en" sz="1100">
                <a:solidFill>
                  <a:schemeClr val="dk1"/>
                </a:solidFill>
              </a:rPr>
              <a:t>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lang="en" sz="1100">
                <a:solidFill>
                  <a:schemeClr val="dk1"/>
                </a:solidFill>
              </a:rPr>
              <a:t> operator to check if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user_age</a:t>
            </a:r>
            <a:r>
              <a:rPr lang="en" sz="1100">
                <a:solidFill>
                  <a:schemeClr val="dk1"/>
                </a:solidFill>
              </a:rPr>
              <a:t> is at least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Store/Print Result:</a:t>
            </a:r>
            <a:r>
              <a:rPr lang="en" sz="1100">
                <a:solidFill>
                  <a:schemeClr val="dk1"/>
                </a:solidFill>
              </a:rPr>
              <a:t> Output the Boolean result to see if they qualify.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