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 Mon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13" Type="http://schemas.openxmlformats.org/officeDocument/2006/relationships/font" Target="fonts/RobotoMono-italic.fntdata"/><Relationship Id="rId12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72ae799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72ae799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72ae799d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72ae799d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72ae799d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72ae799d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72ae799d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72ae799d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if, elif, else statements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The </a:t>
            </a:r>
            <a:r>
              <a:rPr lang="en" sz="2500">
                <a:solidFill>
                  <a:srgbClr val="188038"/>
                </a:solidFill>
              </a:rPr>
              <a:t>if</a:t>
            </a:r>
            <a:r>
              <a:rPr lang="en" sz="2500"/>
              <a:t> Statement</a:t>
            </a:r>
            <a:endParaRPr sz="2500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4047000" cy="38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Foundation:</a:t>
            </a:r>
            <a:r>
              <a:rPr lang="en" sz="1100">
                <a:solidFill>
                  <a:schemeClr val="dk1"/>
                </a:solidFill>
              </a:rPr>
              <a:t>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" sz="1100">
                <a:solidFill>
                  <a:schemeClr val="dk1"/>
                </a:solidFill>
              </a:rPr>
              <a:t> statement executes a block of code </a:t>
            </a:r>
            <a:r>
              <a:rPr b="1" lang="en" sz="1100">
                <a:solidFill>
                  <a:schemeClr val="dk1"/>
                </a:solidFill>
              </a:rPr>
              <a:t>only if</a:t>
            </a:r>
            <a:r>
              <a:rPr lang="en" sz="1100">
                <a:solidFill>
                  <a:schemeClr val="dk1"/>
                </a:solidFill>
              </a:rPr>
              <a:t> a specific condition is met.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Syntax: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Start with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" sz="1100">
                <a:solidFill>
                  <a:schemeClr val="dk1"/>
                </a:solidFill>
              </a:rPr>
              <a:t> keyword.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Follow with a condition and a colon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Indentation:</a:t>
            </a:r>
            <a:r>
              <a:rPr lang="en" sz="1100">
                <a:solidFill>
                  <a:schemeClr val="dk1"/>
                </a:solidFill>
              </a:rPr>
              <a:t> The code to run must be indented (usually 4 spaces).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 title="Screenshot 2026-04-17 1636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8700" y="2015562"/>
            <a:ext cx="4473600" cy="1043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The </a:t>
            </a:r>
            <a:r>
              <a:rPr lang="en" sz="2400">
                <a:solidFill>
                  <a:srgbClr val="188038"/>
                </a:solidFill>
              </a:rPr>
              <a:t>else</a:t>
            </a:r>
            <a:r>
              <a:rPr lang="en" sz="2400"/>
              <a:t> Statement</a:t>
            </a:r>
            <a:endParaRPr sz="240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4111800" cy="36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"Otherwise" Clause:</a:t>
            </a:r>
            <a:r>
              <a:rPr lang="en" sz="1100">
                <a:solidFill>
                  <a:schemeClr val="dk1"/>
                </a:solidFill>
              </a:rPr>
              <a:t> Provides an alternative path when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" sz="1100">
                <a:solidFill>
                  <a:schemeClr val="dk1"/>
                </a:solidFill>
              </a:rPr>
              <a:t> condition is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Rules: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It has no condition of its own.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There can only be </a:t>
            </a:r>
            <a:r>
              <a:rPr b="1" lang="en" sz="1100">
                <a:solidFill>
                  <a:schemeClr val="dk1"/>
                </a:solidFill>
              </a:rPr>
              <a:t>one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en" sz="1100">
                <a:solidFill>
                  <a:schemeClr val="dk1"/>
                </a:solidFill>
              </a:rPr>
              <a:t> per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" sz="1100">
                <a:solidFill>
                  <a:schemeClr val="dk1"/>
                </a:solidFill>
              </a:rPr>
              <a:t> block.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It always comes at the very end.</a:t>
            </a:r>
            <a:endParaRPr/>
          </a:p>
        </p:txBody>
      </p:sp>
      <p:pic>
        <p:nvPicPr>
          <p:cNvPr id="68" name="Google Shape;68;p15" title="Screenshot 2026-04-17 1637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0200" y="2000238"/>
            <a:ext cx="4408799" cy="1143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The </a:t>
            </a:r>
            <a:r>
              <a:rPr lang="en" sz="2500">
                <a:solidFill>
                  <a:srgbClr val="188038"/>
                </a:solidFill>
              </a:rPr>
              <a:t>elif</a:t>
            </a:r>
            <a:r>
              <a:rPr lang="en" sz="2500"/>
              <a:t> Statement</a:t>
            </a:r>
            <a:endParaRPr sz="2500"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3635700" cy="379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Checking Multiple Options:</a:t>
            </a:r>
            <a:r>
              <a:rPr lang="en" sz="1100">
                <a:solidFill>
                  <a:schemeClr val="dk1"/>
                </a:solidFill>
              </a:rPr>
              <a:t> Short for "else if." It allows you to check a new condition if the previous ones were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Flexibility:</a:t>
            </a:r>
            <a:r>
              <a:rPr lang="en" sz="1100">
                <a:solidFill>
                  <a:schemeClr val="dk1"/>
                </a:solidFill>
              </a:rPr>
              <a:t> You can have as many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elif</a:t>
            </a:r>
            <a:r>
              <a:rPr lang="en" sz="1100">
                <a:solidFill>
                  <a:schemeClr val="dk1"/>
                </a:solidFill>
              </a:rPr>
              <a:t> blocks as you need between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" sz="1100">
                <a:solidFill>
                  <a:schemeClr val="dk1"/>
                </a:solidFill>
              </a:rPr>
              <a:t> and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Efficiency:</a:t>
            </a:r>
            <a:r>
              <a:rPr lang="en" sz="1100">
                <a:solidFill>
                  <a:schemeClr val="dk1"/>
                </a:solidFill>
              </a:rPr>
              <a:t> Python stops checking once it finds the first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 sz="1100">
                <a:solidFill>
                  <a:schemeClr val="dk1"/>
                </a:solidFill>
              </a:rPr>
              <a:t> condition.</a:t>
            </a:r>
            <a:endParaRPr/>
          </a:p>
        </p:txBody>
      </p:sp>
      <p:pic>
        <p:nvPicPr>
          <p:cNvPr id="75" name="Google Shape;75;p16" title="Screenshot 2026-04-17 1639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0550" y="1785150"/>
            <a:ext cx="4615675" cy="1573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It All Together (Example)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Goal:</a:t>
            </a:r>
            <a:r>
              <a:rPr lang="en" sz="1100">
                <a:solidFill>
                  <a:schemeClr val="dk1"/>
                </a:solidFill>
              </a:rPr>
              <a:t> Categorize a numeric movie rating into a descriptive label.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Execution Steps: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Input Data:</a:t>
            </a:r>
            <a:r>
              <a:rPr lang="en" sz="1100">
                <a:solidFill>
                  <a:schemeClr val="dk1"/>
                </a:solidFill>
              </a:rPr>
              <a:t> Accept user input and assign it to a variable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rating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Primary Check (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b="1" lang="en" sz="1100">
                <a:solidFill>
                  <a:schemeClr val="dk1"/>
                </a:solidFill>
              </a:rPr>
              <a:t>):</a:t>
            </a:r>
            <a:r>
              <a:rPr lang="en" sz="1100">
                <a:solidFill>
                  <a:schemeClr val="dk1"/>
                </a:solidFill>
              </a:rPr>
              <a:t> Check if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rating</a:t>
            </a:r>
            <a:r>
              <a:rPr lang="en" sz="1100">
                <a:solidFill>
                  <a:schemeClr val="dk1"/>
                </a:solidFill>
              </a:rPr>
              <a:t> is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&gt;= 9.0</a:t>
            </a:r>
            <a:r>
              <a:rPr lang="en" sz="1100">
                <a:solidFill>
                  <a:schemeClr val="dk1"/>
                </a:solidFill>
              </a:rPr>
              <a:t> (Label: "Excellent").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Secondary Check (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elif</a:t>
            </a:r>
            <a:r>
              <a:rPr b="1" lang="en" sz="1100">
                <a:solidFill>
                  <a:schemeClr val="dk1"/>
                </a:solidFill>
              </a:rPr>
              <a:t>):</a:t>
            </a:r>
            <a:r>
              <a:rPr lang="en" sz="1100">
                <a:solidFill>
                  <a:schemeClr val="dk1"/>
                </a:solidFill>
              </a:rPr>
              <a:t> Check if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rating</a:t>
            </a:r>
            <a:r>
              <a:rPr lang="en" sz="1100">
                <a:solidFill>
                  <a:schemeClr val="dk1"/>
                </a:solidFill>
              </a:rPr>
              <a:t> is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&gt;= 7.0</a:t>
            </a:r>
            <a:r>
              <a:rPr lang="en" sz="1100">
                <a:solidFill>
                  <a:schemeClr val="dk1"/>
                </a:solidFill>
              </a:rPr>
              <a:t> (Label: "Good").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Final Fallback (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b="1" lang="en" sz="1100">
                <a:solidFill>
                  <a:schemeClr val="dk1"/>
                </a:solidFill>
              </a:rPr>
              <a:t>):</a:t>
            </a:r>
            <a:r>
              <a:rPr lang="en" sz="1100">
                <a:solidFill>
                  <a:schemeClr val="dk1"/>
                </a:solidFill>
              </a:rPr>
              <a:t> Categorize everything else as "Average/Poor".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Output:</a:t>
            </a:r>
            <a:r>
              <a:rPr lang="en" sz="1100">
                <a:solidFill>
                  <a:schemeClr val="dk1"/>
                </a:solidFill>
              </a:rPr>
              <a:t> Print the resulting category.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How do you think the logic would change if we swapped the order and checked for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&gt;= 7.0</a:t>
            </a:r>
            <a:r>
              <a:rPr lang="en" sz="1100">
                <a:solidFill>
                  <a:schemeClr val="dk1"/>
                </a:solidFill>
              </a:rPr>
              <a:t> before checking for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&gt;= 9.0</a:t>
            </a:r>
            <a:r>
              <a:rPr lang="en" sz="1100">
                <a:solidFill>
                  <a:schemeClr val="dk1"/>
                </a:solidFill>
              </a:rPr>
              <a:t>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