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ef0700a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ef0700a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f0700a4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f0700a4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ef0700a4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ef0700a4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ef0700a4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ef0700a4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f0700a4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ef0700a4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f0700a4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ef0700a4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f0700a4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ef0700a4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and Output with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Basic I/O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414800" cy="3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The Concept of Flow:</a:t>
            </a:r>
            <a:r>
              <a:rPr lang="en" sz="1300">
                <a:solidFill>
                  <a:schemeClr val="dk1"/>
                </a:solidFill>
              </a:rPr>
              <a:t> Every program needs a way to communicate with the user.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Input:</a:t>
            </a:r>
            <a:r>
              <a:rPr lang="en" sz="1300">
                <a:solidFill>
                  <a:schemeClr val="dk1"/>
                </a:solidFill>
              </a:rPr>
              <a:t> Getting data from the user into the program.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Output:</a:t>
            </a:r>
            <a:r>
              <a:rPr lang="en" sz="1300">
                <a:solidFill>
                  <a:schemeClr val="dk1"/>
                </a:solidFill>
              </a:rPr>
              <a:t> Displaying results or messages from the program to the user.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The Python Standard Library:</a:t>
            </a:r>
            <a:r>
              <a:rPr lang="en" sz="1300">
                <a:solidFill>
                  <a:schemeClr val="dk1"/>
                </a:solidFill>
              </a:rPr>
              <a:t> These functions are built-in and ready to use without extra setup.</a:t>
            </a:r>
            <a:endParaRPr sz="2000"/>
          </a:p>
        </p:txBody>
      </p:sp>
      <p:pic>
        <p:nvPicPr>
          <p:cNvPr descr="a line of text that says &quot; print hello world &quot; on a white background (Provided by Tenor)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500" y="1415575"/>
            <a:ext cx="4112699" cy="2312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print()</a:t>
            </a:r>
            <a:r>
              <a:rPr lang="en" sz="2500"/>
              <a:t> Function</a:t>
            </a:r>
            <a:endParaRPr sz="42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126200" cy="31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r>
              <a:rPr lang="en" sz="1100">
                <a:solidFill>
                  <a:schemeClr val="dk1"/>
                </a:solidFill>
              </a:rPr>
              <a:t> Sends data to the console (screen).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print("Hello, World!")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Printing Variables:</a:t>
            </a:r>
            <a:r>
              <a:rPr lang="en" sz="1100">
                <a:solidFill>
                  <a:schemeClr val="dk1"/>
                </a:solidFill>
              </a:rPr>
              <a:t> You can pass variables directly into the function.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Multiple Arguments:</a:t>
            </a:r>
            <a:r>
              <a:rPr lang="en" sz="1100">
                <a:solidFill>
                  <a:schemeClr val="dk1"/>
                </a:solidFill>
              </a:rPr>
              <a:t> Use commas to print multiple items; Python adds a space between them by default.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print("Age:", 25)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8" name="Google Shape;68;p15" title="Screenshot 2026-04-17 0904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425" y="2765525"/>
            <a:ext cx="21431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17 0903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7425" y="1212500"/>
            <a:ext cx="25812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Screenshot 2026-04-17 0905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7425" y="3203675"/>
            <a:ext cx="17430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Screenshot 2026-04-17 09051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7425" y="1745900"/>
            <a:ext cx="18192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Formatting Your Output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458000" cy="3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b="1" lang="en" sz="1100">
                <a:solidFill>
                  <a:schemeClr val="dk1"/>
                </a:solidFill>
              </a:rPr>
              <a:t> Parameter:</a:t>
            </a:r>
            <a:r>
              <a:rPr lang="en" sz="1100">
                <a:solidFill>
                  <a:schemeClr val="dk1"/>
                </a:solidFill>
              </a:rPr>
              <a:t> Control what happens at the end of a print statement (defaults to a newline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print("Hello", end=" 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String Concatenation:</a:t>
            </a:r>
            <a:r>
              <a:rPr lang="en" sz="1100">
                <a:solidFill>
                  <a:schemeClr val="dk1"/>
                </a:solidFill>
              </a:rPr>
              <a:t> Using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100">
                <a:solidFill>
                  <a:schemeClr val="dk1"/>
                </a:solidFill>
              </a:rPr>
              <a:t> operator to join strings.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F-Strings (Formatted String Literals):</a:t>
            </a:r>
            <a:r>
              <a:rPr lang="en" sz="1100">
                <a:solidFill>
                  <a:schemeClr val="dk1"/>
                </a:solidFill>
              </a:rPr>
              <a:t> The modern, readable way to include variables.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print(f"User: {name}")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Screenshot 2026-04-17 0912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975" y="1152475"/>
            <a:ext cx="3955830" cy="35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 2026-04-17 0912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963" y="1503440"/>
            <a:ext cx="16764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6-04-17 0914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1963" y="3352277"/>
            <a:ext cx="16668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Screenshot 2026-04-17 09140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7200" y="2695052"/>
            <a:ext cx="2600325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Getting User Input with </a:t>
            </a:r>
            <a:r>
              <a:rPr lang="en" sz="2500">
                <a:solidFill>
                  <a:srgbClr val="188038"/>
                </a:solidFill>
              </a:rPr>
              <a:t>input()</a:t>
            </a:r>
            <a:endParaRPr sz="2500"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4357200" cy="30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r>
              <a:rPr lang="en" sz="1100">
                <a:solidFill>
                  <a:schemeClr val="dk1"/>
                </a:solidFill>
              </a:rPr>
              <a:t> Pauses program execution and waits for the user to type something.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 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variable = </a:t>
            </a:r>
            <a:r>
              <a:rPr lang="en" sz="1100">
                <a:solidFill>
                  <a:srgbClr val="1155CC"/>
                </a:solidFill>
              </a:rPr>
              <a:t>input</a:t>
            </a:r>
            <a:r>
              <a:rPr lang="en" sz="1100">
                <a:solidFill>
                  <a:schemeClr val="dk1"/>
                </a:solidFill>
              </a:rPr>
              <a:t>(</a:t>
            </a:r>
            <a:r>
              <a:rPr lang="en" sz="1100">
                <a:solidFill>
                  <a:srgbClr val="38761D"/>
                </a:solidFill>
              </a:rPr>
              <a:t>“Prompt message: “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"String" Trap:</a:t>
            </a:r>
            <a:r>
              <a:rPr lang="en" sz="1100">
                <a:solidFill>
                  <a:schemeClr val="dk1"/>
                </a:solidFill>
              </a:rPr>
              <a:t> Crucial Point—The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input()</a:t>
            </a:r>
            <a:r>
              <a:rPr lang="en" sz="1100">
                <a:solidFill>
                  <a:schemeClr val="dk1"/>
                </a:solidFill>
              </a:rPr>
              <a:t> function </a:t>
            </a:r>
            <a:r>
              <a:rPr i="1" lang="en" sz="1100">
                <a:solidFill>
                  <a:schemeClr val="dk1"/>
                </a:solidFill>
              </a:rPr>
              <a:t>always</a:t>
            </a:r>
            <a:r>
              <a:rPr lang="en" sz="1100">
                <a:solidFill>
                  <a:schemeClr val="dk1"/>
                </a:solidFill>
              </a:rPr>
              <a:t> returns a string (text), even if the user types a number.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88" name="Google Shape;88;p17" title="Screenshot 2026-04-17 0940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525" y="1646250"/>
            <a:ext cx="40195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 2026-04-17 0942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525" y="2322525"/>
            <a:ext cx="4170300" cy="758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 Conversion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4184100" cy="3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You cannot do math on a string.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r>
              <a:rPr lang="en" sz="1100">
                <a:solidFill>
                  <a:schemeClr val="dk1"/>
                </a:solidFill>
              </a:rPr>
              <a:t> Type Casting.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Conversion Functions: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int()</a:t>
            </a:r>
            <a:r>
              <a:rPr lang="en" sz="1100">
                <a:solidFill>
                  <a:schemeClr val="dk1"/>
                </a:solidFill>
              </a:rPr>
              <a:t>: Converts text to an integer (whole number).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float()</a:t>
            </a:r>
            <a:r>
              <a:rPr lang="en" sz="1100">
                <a:solidFill>
                  <a:schemeClr val="dk1"/>
                </a:solidFill>
              </a:rPr>
              <a:t>: Converts text to a decimal number.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 Code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```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age = </a:t>
            </a:r>
            <a:r>
              <a:rPr lang="en" sz="1100">
                <a:solidFill>
                  <a:srgbClr val="1155CC"/>
                </a:solidFill>
              </a:rPr>
              <a:t>int</a:t>
            </a:r>
            <a:r>
              <a:rPr lang="en" sz="1100">
                <a:solidFill>
                  <a:schemeClr val="dk1"/>
                </a:solidFill>
              </a:rPr>
              <a:t>(</a:t>
            </a:r>
            <a:r>
              <a:rPr lang="en" sz="1100">
                <a:solidFill>
                  <a:srgbClr val="1155CC"/>
                </a:solidFill>
              </a:rPr>
              <a:t>input</a:t>
            </a:r>
            <a:r>
              <a:rPr lang="en" sz="1100">
                <a:solidFill>
                  <a:schemeClr val="dk1"/>
                </a:solidFill>
              </a:rPr>
              <a:t>(</a:t>
            </a:r>
            <a:r>
              <a:rPr lang="en" sz="1100">
                <a:solidFill>
                  <a:srgbClr val="38761D"/>
                </a:solidFill>
              </a:rPr>
              <a:t>“Enter your age: “)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next_year = age + 1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```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96" name="Google Shape;96;p18" title="Screenshot 2026-04-17 1007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152475"/>
            <a:ext cx="42993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 title="Screenshot 2026-04-17 1007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800" y="2390725"/>
            <a:ext cx="281940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&amp; Common Errors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Clear Prompts:</a:t>
            </a:r>
            <a:r>
              <a:rPr lang="en" sz="1100">
                <a:solidFill>
                  <a:schemeClr val="dk1"/>
                </a:solidFill>
              </a:rPr>
              <a:t> Always tell the user exactly what you need (e.g., "Enter your weight in kg:").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ValueError:</a:t>
            </a:r>
            <a:r>
              <a:rPr lang="en" sz="1100">
                <a:solidFill>
                  <a:schemeClr val="dk1"/>
                </a:solidFill>
              </a:rPr>
              <a:t> What happens when a user types "Apple" instead of "25" during an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int()</a:t>
            </a:r>
            <a:r>
              <a:rPr lang="en" sz="1100">
                <a:solidFill>
                  <a:schemeClr val="dk1"/>
                </a:solidFill>
              </a:rPr>
              <a:t> conversion?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Summary: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print()</a:t>
            </a:r>
            <a:r>
              <a:rPr lang="en" sz="1100">
                <a:solidFill>
                  <a:schemeClr val="dk1"/>
                </a:solidFill>
              </a:rPr>
              <a:t> is for talking.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input()</a:t>
            </a:r>
            <a:r>
              <a:rPr lang="en" sz="1100">
                <a:solidFill>
                  <a:schemeClr val="dk1"/>
                </a:solidFill>
              </a:rPr>
              <a:t> is for listening.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int()</a:t>
            </a:r>
            <a:r>
              <a:rPr lang="en" sz="1100">
                <a:solidFill>
                  <a:schemeClr val="dk1"/>
                </a:solidFill>
              </a:rPr>
              <a:t>/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float()</a:t>
            </a:r>
            <a:r>
              <a:rPr lang="en" sz="1100">
                <a:solidFill>
                  <a:schemeClr val="dk1"/>
                </a:solidFill>
              </a:rPr>
              <a:t> are for translating.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(Example)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1:</a:t>
            </a:r>
            <a:r>
              <a:rPr lang="en" sz="1100">
                <a:solidFill>
                  <a:schemeClr val="dk1"/>
                </a:solidFill>
              </a:rPr>
              <a:t> Prompt for a name (Input).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2:</a:t>
            </a:r>
            <a:r>
              <a:rPr lang="en" sz="1100">
                <a:solidFill>
                  <a:schemeClr val="dk1"/>
                </a:solidFill>
              </a:rPr>
              <a:t> Prompt for a numeric value (Input + Casting).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3:</a:t>
            </a:r>
            <a:r>
              <a:rPr lang="en" sz="1100">
                <a:solidFill>
                  <a:schemeClr val="dk1"/>
                </a:solidFill>
              </a:rPr>
              <a:t> Calculate a result (Logic).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4:</a:t>
            </a:r>
            <a:r>
              <a:rPr lang="en" sz="1100">
                <a:solidFill>
                  <a:schemeClr val="dk1"/>
                </a:solidFill>
              </a:rPr>
              <a:t> Display the final message (Formatted Output).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