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02db360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02db360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02db360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02db360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02db3601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02db3601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02db3601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02db3601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2db3601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02db3601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02db3601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02db3601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functions, return value, global vs local scope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Return Values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3765600" cy="3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Concept:</a:t>
            </a:r>
            <a:r>
              <a:rPr lang="en" sz="1100">
                <a:solidFill>
                  <a:schemeClr val="dk1"/>
                </a:solidFill>
              </a:rPr>
              <a:t> Functions aren't just "doers"; they are "providers."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b="1" lang="en" sz="1100">
                <a:solidFill>
                  <a:schemeClr val="dk1"/>
                </a:solidFill>
              </a:rPr>
              <a:t> Keyword:</a:t>
            </a:r>
            <a:r>
              <a:rPr lang="en" sz="1100">
                <a:solidFill>
                  <a:schemeClr val="dk1"/>
                </a:solidFill>
              </a:rPr>
              <a:t> Used to send a result back to the caller.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Termination:</a:t>
            </a:r>
            <a:r>
              <a:rPr lang="en" sz="1100">
                <a:solidFill>
                  <a:schemeClr val="dk1"/>
                </a:solidFill>
              </a:rPr>
              <a:t> A function stops immediately once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00">
                <a:solidFill>
                  <a:schemeClr val="dk1"/>
                </a:solidFill>
              </a:rPr>
              <a:t> statement is executed.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Default Behavior:</a:t>
            </a:r>
            <a:r>
              <a:rPr lang="en" sz="1100">
                <a:solidFill>
                  <a:schemeClr val="dk1"/>
                </a:solidFill>
              </a:rPr>
              <a:t> If no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00">
                <a:solidFill>
                  <a:schemeClr val="dk1"/>
                </a:solidFill>
              </a:rPr>
              <a:t> is specified, Python implicitly 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 2026-04-20 1201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2975" y="1152475"/>
            <a:ext cx="40386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Screenshot 2026-04-20 1202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600" y="2935050"/>
            <a:ext cx="3943350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Return Instead of Print?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Print is for Humans:</a:t>
            </a:r>
            <a:r>
              <a:rPr lang="en" sz="1100">
                <a:solidFill>
                  <a:schemeClr val="dk1"/>
                </a:solidFill>
              </a:rPr>
              <a:t> It shows a value on the console but doesn't store it.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Return is for Code:</a:t>
            </a:r>
            <a:r>
              <a:rPr lang="en" sz="1100">
                <a:solidFill>
                  <a:schemeClr val="dk1"/>
                </a:solidFill>
              </a:rPr>
              <a:t> It allows the output of one function to be saved in a variable or passed into another function.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6-04-20 1203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4275" y="1695925"/>
            <a:ext cx="405765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Screenshot 2026-04-20 1203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938" y="1695913"/>
            <a:ext cx="3590925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Scope (The "Where")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Definition:</a:t>
            </a:r>
            <a:r>
              <a:rPr lang="en" sz="1100">
                <a:solidFill>
                  <a:schemeClr val="dk1"/>
                </a:solidFill>
              </a:rPr>
              <a:t> Scope determines which parts of your program can "see" or access specific variables.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"Lego" Analogy:</a:t>
            </a:r>
            <a:r>
              <a:rPr lang="en" sz="1100">
                <a:solidFill>
                  <a:schemeClr val="dk1"/>
                </a:solidFill>
              </a:rPr>
              <a:t> Variables inside a box (function) can't be seen from outside the box unless they are passed out.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Two Main Levels: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Global Scope:</a:t>
            </a:r>
            <a:r>
              <a:rPr lang="en" sz="1100">
                <a:solidFill>
                  <a:schemeClr val="dk1"/>
                </a:solidFill>
              </a:rPr>
              <a:t> Defined at the top level of the script.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Local Scope:</a:t>
            </a:r>
            <a:r>
              <a:rPr lang="en" sz="1100">
                <a:solidFill>
                  <a:schemeClr val="dk1"/>
                </a:solidFill>
              </a:rPr>
              <a:t> Defined inside a function.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14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vs. Local Scope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786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Global Variables: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Accessible from anywhere in the code.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Persist as long as the program is running.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Local Variables: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Created when the function is called; destroyed when it finishes.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Shadowing:</a:t>
            </a:r>
            <a:r>
              <a:rPr lang="en" sz="1100">
                <a:solidFill>
                  <a:schemeClr val="dk1"/>
                </a:solidFill>
              </a:rPr>
              <a:t> A local variable can have the same name as a global variable without affecting it.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214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vs. Local Scope Example</a:t>
            </a:r>
            <a:endParaRPr/>
          </a:p>
        </p:txBody>
      </p:sp>
      <p:pic>
        <p:nvPicPr>
          <p:cNvPr id="88" name="Google Shape;88;p18" title="Screenshot 2026-04-20 1206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65425"/>
            <a:ext cx="5358449" cy="206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 title="Screenshot 2026-04-20 1205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675" y="786900"/>
            <a:ext cx="3930100" cy="18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Goal:</a:t>
            </a:r>
            <a:r>
              <a:rPr lang="en" sz="1100">
                <a:solidFill>
                  <a:schemeClr val="dk1"/>
                </a:solidFill>
              </a:rPr>
              <a:t> Calculate a final price after tax using both scopes and a return value.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Steps to Complete the Logic: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Define the Global:</a:t>
            </a:r>
            <a:r>
              <a:rPr lang="en" sz="1100">
                <a:solidFill>
                  <a:schemeClr val="dk1"/>
                </a:solidFill>
              </a:rPr>
              <a:t> Set </a:t>
            </a:r>
            <a:r>
              <a:rPr lang="en" sz="1100">
                <a:solidFill>
                  <a:srgbClr val="188038"/>
                </a:solidFill>
              </a:rPr>
              <a:t>TAX_RATE</a:t>
            </a:r>
            <a:r>
              <a:rPr lang="en" sz="1100">
                <a:solidFill>
                  <a:schemeClr val="dk1"/>
                </a:solidFill>
              </a:rPr>
              <a:t> outside the function so any future functions (like a shipping calculator) can also use it.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Create the Local Logic:</a:t>
            </a:r>
            <a:r>
              <a:rPr lang="en" sz="1100">
                <a:solidFill>
                  <a:schemeClr val="dk1"/>
                </a:solidFill>
              </a:rPr>
              <a:t> Inside </a:t>
            </a:r>
            <a:r>
              <a:rPr lang="en" sz="1100">
                <a:solidFill>
                  <a:srgbClr val="188038"/>
                </a:solidFill>
              </a:rPr>
              <a:t>calculate_total</a:t>
            </a:r>
            <a:r>
              <a:rPr lang="en" sz="1100">
                <a:solidFill>
                  <a:schemeClr val="dk1"/>
                </a:solidFill>
              </a:rPr>
              <a:t>, create the </a:t>
            </a:r>
            <a:r>
              <a:rPr lang="en" sz="1100">
                <a:solidFill>
                  <a:srgbClr val="188038"/>
                </a:solidFill>
              </a:rPr>
              <a:t>tax_amount</a:t>
            </a:r>
            <a:r>
              <a:rPr lang="en" sz="1100">
                <a:solidFill>
                  <a:schemeClr val="dk1"/>
                </a:solidFill>
              </a:rPr>
              <a:t> variable. Note: You cannot access </a:t>
            </a:r>
            <a:r>
              <a:rPr lang="en" sz="1100">
                <a:solidFill>
                  <a:srgbClr val="188038"/>
                </a:solidFill>
              </a:rPr>
              <a:t>tax_amount</a:t>
            </a:r>
            <a:r>
              <a:rPr lang="en" sz="1100">
                <a:solidFill>
                  <a:schemeClr val="dk1"/>
                </a:solidFill>
              </a:rPr>
              <a:t> outside this function!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Ship the Result: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>
                <a:solidFill>
                  <a:srgbClr val="188038"/>
                </a:solidFill>
              </a:rPr>
              <a:t>return total</a:t>
            </a:r>
            <a:r>
              <a:rPr lang="en" sz="1100">
                <a:solidFill>
                  <a:schemeClr val="dk1"/>
                </a:solidFill>
              </a:rPr>
              <a:t> to "export" the calculation result.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Capture the Data:</a:t>
            </a:r>
            <a:r>
              <a:rPr lang="en" sz="1100">
                <a:solidFill>
                  <a:schemeClr val="dk1"/>
                </a:solidFill>
              </a:rPr>
              <a:t> Call the function and assign it to a new variable (</a:t>
            </a:r>
            <a:r>
              <a:rPr lang="en" sz="1100">
                <a:solidFill>
                  <a:srgbClr val="188038"/>
                </a:solidFill>
              </a:rPr>
              <a:t>final_bill</a:t>
            </a:r>
            <a:r>
              <a:rPr lang="en" sz="1100">
                <a:solidFill>
                  <a:schemeClr val="dk1"/>
                </a:solidFill>
              </a:rPr>
              <a:t>) so the data isn't lost.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Verify:</a:t>
            </a:r>
            <a:r>
              <a:rPr lang="en" sz="1100">
                <a:solidFill>
                  <a:schemeClr val="dk1"/>
                </a:solidFill>
              </a:rPr>
              <a:t> Print the final variable to ensure the flow from Global -&gt; Local -&gt; Return worked correctly.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